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4" r:id="rId11"/>
    <p:sldId id="263" r:id="rId12"/>
    <p:sldId id="265" r:id="rId13"/>
    <p:sldId id="266" r:id="rId14"/>
    <p:sldId id="267" r:id="rId15"/>
    <p:sldId id="268" r:id="rId16"/>
    <p:sldId id="269" r:id="rId17"/>
    <p:sldId id="270" r:id="rId18"/>
    <p:sldId id="271" r:id="rId19"/>
    <p:sldId id="272" r:id="rId20"/>
    <p:sldId id="273"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300" b="0" i="0" u="none" strike="noStrike" kern="1200" baseline="0">
                <a:solidFill>
                  <a:srgbClr val="1E2761"/>
                </a:solidFill>
                <a:latin typeface="Arial" panose="020B0604020202020204"/>
                <a:ea typeface="+mn-ea"/>
                <a:cs typeface="+mn-cs"/>
              </a:defRPr>
            </a:pPr>
            <a:r>
              <a:rPr sz="1300" b="0" i="0" u="none" strike="noStrike">
                <a:solidFill>
                  <a:srgbClr val="1E2761"/>
                </a:solidFill>
                <a:latin typeface="Arial" panose="020B0604020202020204"/>
              </a:rPr>
              <a:t>Budget Allocation (₦1,500,000)</a:t>
            </a:r>
            <a:endParaRPr sz="1300" b="0" i="0" u="none" strike="noStrike">
              <a:solidFill>
                <a:srgbClr val="1E2761"/>
              </a:solidFill>
              <a:latin typeface="Arial" panose="020B0604020202020204"/>
            </a:endParaRPr>
          </a:p>
        </c:rich>
      </c:tx>
      <c:layout/>
      <c:overlay val="0"/>
    </c:title>
    <c:autoTitleDeleted val="0"/>
    <c:plotArea>
      <c:layout/>
      <c:pie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explosion val="0"/>
          <c:dPt>
            <c:idx val="0"/>
            <c:bubble3D val="0"/>
            <c:spPr>
              <a:solidFill>
                <a:srgbClr val="1E2761"/>
              </a:solidFill>
              <a:effectLst/>
            </c:spPr>
          </c:dPt>
          <c:dPt>
            <c:idx val="1"/>
            <c:bubble3D val="0"/>
            <c:spPr>
              <a:solidFill>
                <a:srgbClr val="2E74B5"/>
              </a:solidFill>
              <a:effectLst/>
            </c:spPr>
          </c:dPt>
          <c:dPt>
            <c:idx val="2"/>
            <c:bubble3D val="0"/>
            <c:spPr>
              <a:solidFill>
                <a:srgbClr val="5B84B1"/>
              </a:solidFill>
              <a:effectLst/>
            </c:spPr>
          </c:dPt>
          <c:dPt>
            <c:idx val="3"/>
            <c:bubble3D val="0"/>
            <c:spPr>
              <a:solidFill>
                <a:srgbClr val="7FA0C4"/>
              </a:solidFill>
              <a:effectLst/>
            </c:spPr>
          </c:dPt>
          <c:dPt>
            <c:idx val="4"/>
            <c:bubble3D val="0"/>
            <c:spPr>
              <a:solidFill>
                <a:srgbClr val="A3BBD6"/>
              </a:solidFill>
              <a:effectLst/>
            </c:spPr>
          </c:dPt>
          <c:dPt>
            <c:idx val="5"/>
            <c:bubble3D val="0"/>
            <c:spPr>
              <a:solidFill>
                <a:srgbClr val="8592B5"/>
              </a:solidFill>
              <a:effectLst/>
            </c:spPr>
          </c:dPt>
          <c:dPt>
            <c:idx val="6"/>
            <c:bubble3D val="0"/>
            <c:spPr>
              <a:solidFill>
                <a:srgbClr val="3D4E7A"/>
              </a:solidFill>
              <a:effectLst/>
            </c:spPr>
          </c:dPt>
          <c:dPt>
            <c:idx val="7"/>
            <c:bubble3D val="0"/>
            <c:spPr>
              <a:solidFill>
                <a:srgbClr val="B0BEDD"/>
              </a:solidFill>
              <a:effectLst/>
            </c:spPr>
          </c:dPt>
          <c:dPt>
            <c:idx val="8"/>
            <c:bubble3D val="0"/>
            <c:spPr>
              <a:solidFill>
                <a:srgbClr val="6C7A99"/>
              </a:solidFill>
              <a:effectLst/>
            </c:spPr>
          </c:dPt>
          <c:dPt>
            <c:idx val="9"/>
            <c:bubble3D val="0"/>
            <c:spPr>
              <a:solidFill>
                <a:srgbClr val="4C6A9C"/>
              </a:solidFill>
              <a:effectLst/>
            </c:spPr>
          </c:dPt>
          <c:dLbls>
            <c:dLbl>
              <c:idx val="0"/>
              <c:layout/>
              <c:numFmt formatCode="#,##0" sourceLinked="0"/>
              <c:spPr>
                <a:noFill/>
                <a:ln>
                  <a:noFill/>
                </a:ln>
                <a:effectLst/>
              </c:spPr>
              <c:txPr>
                <a:bodyPr rot="0" spcFirstLastPara="0" vertOverflow="ellipsis" vert="horz" wrap="square" lIns="38100" tIns="19050" rIns="38100" bIns="19050" anchor="ctr" anchorCtr="1"/>
                <a:lstStyle/>
                <a:p>
                  <a:pPr>
                    <a:defRPr lang="en-US" sz="800" b="0" i="0" u="none" strike="noStrike" kern="1200" baseline="0">
                      <a:solidFill>
                        <a:srgbClr val="FFFFFF"/>
                      </a:solidFill>
                      <a:latin typeface="Arial" panose="020B0604020202020204"/>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dLbl>
              <c:idx val="1"/>
              <c:layout/>
              <c:numFmt formatCode="#,##0" sourceLinked="0"/>
              <c:spPr>
                <a:noFill/>
                <a:ln>
                  <a:noFill/>
                </a:ln>
                <a:effectLst/>
              </c:spPr>
              <c:txPr>
                <a:bodyPr rot="0" spcFirstLastPara="0" vertOverflow="ellipsis" vert="horz" wrap="square" lIns="38100" tIns="19050" rIns="38100" bIns="19050" anchor="ctr" anchorCtr="1"/>
                <a:lstStyle/>
                <a:p>
                  <a:pPr>
                    <a:defRPr lang="en-US" sz="800" b="0" i="0" u="none" strike="noStrike" kern="1200" baseline="0">
                      <a:solidFill>
                        <a:srgbClr val="FFFFFF"/>
                      </a:solidFill>
                      <a:latin typeface="Arial" panose="020B0604020202020204"/>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dLbl>
              <c:idx val="2"/>
              <c:layout/>
              <c:numFmt formatCode="#,##0" sourceLinked="0"/>
              <c:spPr>
                <a:noFill/>
                <a:ln>
                  <a:noFill/>
                </a:ln>
                <a:effectLst/>
              </c:spPr>
              <c:txPr>
                <a:bodyPr rot="0" spcFirstLastPara="0" vertOverflow="ellipsis" vert="horz" wrap="square" lIns="38100" tIns="19050" rIns="38100" bIns="19050" anchor="ctr" anchorCtr="1"/>
                <a:lstStyle/>
                <a:p>
                  <a:pPr>
                    <a:defRPr lang="en-US" sz="800" b="0" i="0" u="none" strike="noStrike" kern="1200" baseline="0">
                      <a:solidFill>
                        <a:srgbClr val="FFFFFF"/>
                      </a:solidFill>
                      <a:latin typeface="Arial" panose="020B0604020202020204"/>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dLbl>
              <c:idx val="3"/>
              <c:layout/>
              <c:numFmt formatCode="#,##0" sourceLinked="0"/>
              <c:spPr>
                <a:noFill/>
                <a:ln>
                  <a:noFill/>
                </a:ln>
                <a:effectLst/>
              </c:spPr>
              <c:txPr>
                <a:bodyPr rot="0" spcFirstLastPara="0" vertOverflow="ellipsis" vert="horz" wrap="square" lIns="38100" tIns="19050" rIns="38100" bIns="19050" anchor="ctr" anchorCtr="1"/>
                <a:lstStyle/>
                <a:p>
                  <a:pPr>
                    <a:defRPr lang="en-US" sz="800" b="0" i="0" u="none" strike="noStrike" kern="1200" baseline="0">
                      <a:solidFill>
                        <a:srgbClr val="FFFFFF"/>
                      </a:solidFill>
                      <a:latin typeface="Arial" panose="020B0604020202020204"/>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dLbl>
              <c:idx val="4"/>
              <c:layout/>
              <c:numFmt formatCode="#,##0" sourceLinked="0"/>
              <c:spPr>
                <a:noFill/>
                <a:ln>
                  <a:noFill/>
                </a:ln>
                <a:effectLst/>
              </c:spPr>
              <c:txPr>
                <a:bodyPr rot="0" spcFirstLastPara="0" vertOverflow="ellipsis" vert="horz" wrap="square" lIns="38100" tIns="19050" rIns="38100" bIns="19050" anchor="ctr" anchorCtr="1"/>
                <a:lstStyle/>
                <a:p>
                  <a:pPr>
                    <a:defRPr lang="en-US" sz="800" b="0" i="0" u="none" strike="noStrike" kern="1200" baseline="0">
                      <a:solidFill>
                        <a:srgbClr val="FFFFFF"/>
                      </a:solidFill>
                      <a:latin typeface="Arial" panose="020B0604020202020204"/>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dLbl>
              <c:idx val="5"/>
              <c:layout/>
              <c:numFmt formatCode="#,##0" sourceLinked="0"/>
              <c:spPr>
                <a:noFill/>
                <a:ln>
                  <a:noFill/>
                </a:ln>
                <a:effectLst/>
              </c:spPr>
              <c:txPr>
                <a:bodyPr rot="0" spcFirstLastPara="0" vertOverflow="ellipsis" vert="horz" wrap="square" lIns="38100" tIns="19050" rIns="38100" bIns="19050" anchor="ctr" anchorCtr="1"/>
                <a:lstStyle/>
                <a:p>
                  <a:pPr>
                    <a:defRPr lang="en-US" sz="800" b="0" i="0" u="none" strike="noStrike" kern="1200" baseline="0">
                      <a:solidFill>
                        <a:srgbClr val="FFFFFF"/>
                      </a:solidFill>
                      <a:latin typeface="Arial" panose="020B0604020202020204"/>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dLbl>
              <c:idx val="6"/>
              <c:layout/>
              <c:numFmt formatCode="#,##0" sourceLinked="0"/>
              <c:spPr>
                <a:noFill/>
                <a:ln>
                  <a:noFill/>
                </a:ln>
                <a:effectLst/>
              </c:spPr>
              <c:txPr>
                <a:bodyPr rot="0" spcFirstLastPara="0" vertOverflow="ellipsis" vert="horz" wrap="square" lIns="38100" tIns="19050" rIns="38100" bIns="19050" anchor="ctr" anchorCtr="1"/>
                <a:lstStyle/>
                <a:p>
                  <a:pPr>
                    <a:defRPr lang="en-US" sz="800" b="0" i="0" u="none" strike="noStrike" kern="1200" baseline="0">
                      <a:solidFill>
                        <a:srgbClr val="FFFFFF"/>
                      </a:solidFill>
                      <a:latin typeface="Arial" panose="020B0604020202020204"/>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dLbl>
              <c:idx val="7"/>
              <c:layout/>
              <c:numFmt formatCode="#,##0" sourceLinked="0"/>
              <c:spPr>
                <a:noFill/>
                <a:ln>
                  <a:noFill/>
                </a:ln>
                <a:effectLst/>
              </c:spPr>
              <c:txPr>
                <a:bodyPr rot="0" spcFirstLastPara="0" vertOverflow="ellipsis" vert="horz" wrap="square" lIns="38100" tIns="19050" rIns="38100" bIns="19050" anchor="ctr" anchorCtr="1"/>
                <a:lstStyle/>
                <a:p>
                  <a:pPr>
                    <a:defRPr lang="en-US" sz="800" b="0" i="0" u="none" strike="noStrike" kern="1200" baseline="0">
                      <a:solidFill>
                        <a:srgbClr val="FFFFFF"/>
                      </a:solidFill>
                      <a:latin typeface="Arial" panose="020B0604020202020204"/>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dLbl>
              <c:idx val="8"/>
              <c:layout/>
              <c:numFmt formatCode="#,##0" sourceLinked="0"/>
              <c:spPr>
                <a:noFill/>
                <a:ln>
                  <a:noFill/>
                </a:ln>
                <a:effectLst/>
              </c:spPr>
              <c:txPr>
                <a:bodyPr rot="0" spcFirstLastPara="0" vertOverflow="ellipsis" vert="horz" wrap="square" lIns="38100" tIns="19050" rIns="38100" bIns="19050" anchor="ctr" anchorCtr="1"/>
                <a:lstStyle/>
                <a:p>
                  <a:pPr>
                    <a:defRPr lang="en-US" sz="800" b="0" i="0" u="none" strike="noStrike" kern="1200" baseline="0">
                      <a:solidFill>
                        <a:srgbClr val="FFFFFF"/>
                      </a:solidFill>
                      <a:latin typeface="Arial" panose="020B0604020202020204"/>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dLbl>
              <c:idx val="9"/>
              <c:layout/>
              <c:numFmt formatCode="#,##0" sourceLinked="0"/>
              <c:spPr>
                <a:noFill/>
                <a:ln>
                  <a:noFill/>
                </a:ln>
                <a:effectLst/>
              </c:spPr>
              <c:txPr>
                <a:bodyPr rot="0" spcFirstLastPara="0" vertOverflow="ellipsis" vert="horz" wrap="square" lIns="38100" tIns="19050" rIns="38100" bIns="19050" anchor="ctr" anchorCtr="1"/>
                <a:lstStyle/>
                <a:p>
                  <a:pPr>
                    <a:defRPr lang="en-US" sz="800" b="0" i="0" u="none" strike="noStrike" kern="1200" baseline="0">
                      <a:solidFill>
                        <a:srgbClr val="FFFFFF"/>
                      </a:solidFill>
                      <a:latin typeface="Arial" panose="020B0604020202020204"/>
                      <a:ea typeface="+mn-ea"/>
                      <a:cs typeface="+mn-cs"/>
                    </a:defRPr>
                  </a:pPr>
                </a:p>
              </c:txPr>
              <c:dLblPos val="bestFit"/>
              <c:showLegendKey val="0"/>
              <c:showVal val="1"/>
              <c:showCatName val="0"/>
              <c:showSerName val="0"/>
              <c:showPercent val="0"/>
              <c:showBubbleSize val="0"/>
              <c:extLst>
                <c:ext xmlns:c15="http://schemas.microsoft.com/office/drawing/2012/chart" uri="{CE6537A1-D6FC-4f65-9D91-7224C49458BB}"/>
              </c:extLst>
            </c:dLbl>
            <c:numFmt formatCode="#,##0"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rgbClr val="000000"/>
                    </a:solidFill>
                    <a:latin typeface="Arial" panose="020B0604020202020204"/>
                    <a:ea typeface="+mn-ea"/>
                    <a:cs typeface="+mn-cs"/>
                  </a:defRPr>
                </a:pPr>
              </a:p>
            </c:txPr>
            <c:dLblPos val="ctr"/>
            <c:showLegendKey val="0"/>
            <c:showVal val="0"/>
            <c:showCatName val="1"/>
            <c:showSerName val="0"/>
            <c:showPercent val="1"/>
            <c:showBubbleSize val="0"/>
            <c:showLeaderLines val="0"/>
            <c:extLst>
              <c:ext xmlns:c15="http://schemas.microsoft.com/office/drawing/2012/chart" uri="{CE6537A1-D6FC-4f65-9D91-7224C49458BB}">
                <c15:layout/>
                <c15:showLeaderLines val="0"/>
                <c15:leaderLines/>
              </c:ext>
            </c:extLst>
          </c:dLbls>
          <c:cat>
            <c:strRef>
              <c:f>Sheet1!$A$2:$A$11</c:f>
              <c:strCache>
                <c:ptCount val="10"/>
                <c:pt idx="0">
                  <c:v>Backup Solution</c:v>
                </c:pt>
                <c:pt idx="1">
                  <c:v>USB Security</c:v>
                </c:pt>
                <c:pt idx="2">
                  <c:v>Training</c:v>
                </c:pt>
                <c:pt idx="3">
                  <c:v>Firewall</c:v>
                </c:pt>
                <c:pt idx="4">
                  <c:v>Monitoring</c:v>
                </c:pt>
                <c:pt idx="5">
                  <c:v>MFA</c:v>
                </c:pt>
                <c:pt idx="6">
                  <c:v>Endpoint Security</c:v>
                </c:pt>
                <c:pt idx="7">
                  <c:v>Password Mgr</c:v>
                </c:pt>
                <c:pt idx="8">
                  <c:v>Contingency</c:v>
                </c:pt>
                <c:pt idx="9">
                  <c:v>Virtual Cards</c:v>
                </c:pt>
              </c:strCache>
            </c:strRef>
          </c:cat>
          <c:val>
            <c:numRef>
              <c:f>Sheet1!$B$2:$B$11</c:f>
              <c:numCache>
                <c:formatCode>General</c:formatCode>
                <c:ptCount val="10"/>
                <c:pt idx="0">
                  <c:v>300000</c:v>
                </c:pt>
                <c:pt idx="1">
                  <c:v>150000</c:v>
                </c:pt>
                <c:pt idx="2">
                  <c:v>150000</c:v>
                </c:pt>
                <c:pt idx="3">
                  <c:v>200000</c:v>
                </c:pt>
                <c:pt idx="4">
                  <c:v>200000</c:v>
                </c:pt>
                <c:pt idx="5">
                  <c:v>100000</c:v>
                </c:pt>
                <c:pt idx="6">
                  <c:v>120000</c:v>
                </c:pt>
                <c:pt idx="7">
                  <c:v>90000</c:v>
                </c:pt>
                <c:pt idx="8">
                  <c:v>140000</c:v>
                </c:pt>
                <c:pt idx="9">
                  <c:v>50000</c:v>
                </c:pt>
              </c:numCache>
            </c:numRef>
          </c:val>
        </c:ser>
        <c:dLbls>
          <c:showLegendKey val="0"/>
          <c:showVal val="0"/>
          <c:showCatName val="1"/>
          <c:showSerName val="0"/>
          <c:showPercent val="1"/>
          <c:showBubbleSize val="0"/>
          <c:showLeaderLines val="1"/>
        </c:dLbls>
        <c:firstSliceAng val="0"/>
      </c:pieChart>
      <c:spPr>
        <a:noFill/>
        <a:ln>
          <a:noFill/>
        </a:ln>
        <a:effectLst/>
      </c:spPr>
    </c:plotArea>
    <c:legend>
      <c:legendPos val="r"/>
      <c:layout/>
      <c:overlay val="0"/>
      <c:txPr>
        <a:bodyPr rot="0" spcFirstLastPara="0" vertOverflow="ellipsis" vert="horz" wrap="square" anchor="ctr" anchorCtr="1"/>
        <a:lstStyle/>
        <a:p>
          <a:pPr>
            <a:defRPr lang="en-US" sz="9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17102ee3-85da-423c-9580-6dadc17b1657}"/>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2286000"/>
            <a:ext cx="10515600" cy="822960"/>
          </a:xfrm>
          <a:prstGeom prst="rect">
            <a:avLst/>
          </a:prstGeom>
          <a:noFill/>
        </p:spPr>
        <p:txBody>
          <a:bodyPr wrap="square" rtlCol="0" anchor="ctr"/>
          <a:lstStyle/>
          <a:p>
            <a:pPr marL="0" indent="0">
              <a:buNone/>
            </a:pPr>
            <a:r>
              <a:rPr lang="en-US" sz="4000" b="1" dirty="0">
                <a:solidFill>
                  <a:srgbClr val="FFFFFF"/>
                </a:solidFill>
                <a:latin typeface="Calibri" panose="020F0502020204030204" pitchFamily="34" charset="0"/>
                <a:ea typeface="Calibri" panose="020F0502020204030204" pitchFamily="34" charset="-122"/>
                <a:cs typeface="Calibri" panose="020F0502020204030204" pitchFamily="34" charset="-120"/>
              </a:rPr>
              <a:t>CyberShield</a:t>
            </a:r>
            <a:endParaRPr lang="en-US" sz="4000" dirty="0"/>
          </a:p>
        </p:txBody>
      </p:sp>
      <p:sp>
        <p:nvSpPr>
          <p:cNvPr id="3" name="Text 1"/>
          <p:cNvSpPr/>
          <p:nvPr/>
        </p:nvSpPr>
        <p:spPr>
          <a:xfrm>
            <a:off x="822960" y="3063240"/>
            <a:ext cx="9601200" cy="457200"/>
          </a:xfrm>
          <a:prstGeom prst="rect">
            <a:avLst/>
          </a:prstGeom>
          <a:noFill/>
        </p:spPr>
        <p:txBody>
          <a:bodyPr wrap="square" rtlCol="0" anchor="ctr"/>
          <a:lstStyle/>
          <a:p>
            <a:pPr marL="0" indent="0">
              <a:buNone/>
            </a:pPr>
            <a:r>
              <a:rPr lang="en-US" sz="1700" dirty="0">
                <a:solidFill>
                  <a:srgbClr val="D0D6E8"/>
                </a:solidFill>
                <a:latin typeface="Calibri" panose="020F0502020204030204" pitchFamily="34" charset="0"/>
                <a:ea typeface="Calibri" panose="020F0502020204030204" pitchFamily="34" charset="-122"/>
                <a:cs typeface="Calibri" panose="020F0502020204030204" pitchFamily="34" charset="-120"/>
              </a:rPr>
              <a:t>Investigating a Cybersecurity Incident and Building a Security Defense Plan</a:t>
            </a:r>
            <a:endParaRPr lang="en-US" sz="1700" dirty="0"/>
          </a:p>
        </p:txBody>
      </p:sp>
      <p:sp>
        <p:nvSpPr>
          <p:cNvPr id="4" name="Text 2"/>
          <p:cNvSpPr/>
          <p:nvPr/>
        </p:nvSpPr>
        <p:spPr>
          <a:xfrm>
            <a:off x="822960" y="4023360"/>
            <a:ext cx="8229600" cy="365760"/>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Cybersecurity Capstone Project — Oral Presentation</a:t>
            </a:r>
            <a:endParaRPr lang="en-US" sz="1400" dirty="0"/>
          </a:p>
        </p:txBody>
      </p:sp>
      <p:sp>
        <p:nvSpPr>
          <p:cNvPr id="5" name="Text 3"/>
          <p:cNvSpPr/>
          <p:nvPr/>
        </p:nvSpPr>
        <p:spPr>
          <a:xfrm>
            <a:off x="822960" y="4480560"/>
            <a:ext cx="7315200" cy="320040"/>
          </a:xfrm>
          <a:prstGeom prst="rect">
            <a:avLst/>
          </a:prstGeom>
          <a:noFill/>
        </p:spPr>
        <p:txBody>
          <a:bodyPr wrap="square" rtlCol="0" anchor="ctr"/>
          <a:lstStyle/>
          <a:p>
            <a:pPr marL="0" indent="0">
              <a:buNone/>
            </a:pPr>
            <a:r>
              <a:rPr lang="en-US" sz="1300" dirty="0">
                <a:solidFill>
                  <a:srgbClr val="D0D6E8"/>
                </a:solidFill>
                <a:latin typeface="Calibri" panose="020F0502020204030204" pitchFamily="34" charset="0"/>
                <a:ea typeface="Calibri" panose="020F0502020204030204" pitchFamily="34" charset="-122"/>
                <a:cs typeface="Calibri" panose="020F0502020204030204" pitchFamily="34" charset="-120"/>
              </a:rPr>
              <a:t>Prepared by: [Nurain Abdullah]</a:t>
            </a:r>
            <a:endParaRPr lang="en-US" sz="1300" dirty="0"/>
          </a:p>
        </p:txBody>
      </p:sp>
      <p:sp>
        <p:nvSpPr>
          <p:cNvPr id="6" name="Text 4"/>
          <p:cNvSpPr/>
          <p:nvPr/>
        </p:nvSpPr>
        <p:spPr>
          <a:xfrm>
            <a:off x="822960" y="4800600"/>
            <a:ext cx="8229600" cy="320040"/>
          </a:xfrm>
          <a:prstGeom prst="rect">
            <a:avLst/>
          </a:prstGeom>
          <a:noFill/>
        </p:spPr>
        <p:txBody>
          <a:bodyPr wrap="square" rtlCol="0" anchor="ctr"/>
          <a:lstStyle/>
          <a:p>
            <a:pPr marL="0" indent="0">
              <a:buNone/>
            </a:pPr>
            <a:r>
              <a:rPr lang="en-US" sz="1300" dirty="0">
                <a:solidFill>
                  <a:srgbClr val="D0D6E8"/>
                </a:solidFill>
                <a:latin typeface="Calibri" panose="020F0502020204030204" pitchFamily="34" charset="0"/>
                <a:ea typeface="Calibri" panose="020F0502020204030204" pitchFamily="34" charset="-122"/>
                <a:cs typeface="Calibri" panose="020F0502020204030204" pitchFamily="34" charset="-120"/>
              </a:rPr>
              <a:t>Junior Cybersecurity Analyst &amp; Security Champion — NovaPay Solutions Ltd.</a:t>
            </a:r>
            <a:endParaRPr lang="en-US" sz="1300" dirty="0"/>
          </a:p>
        </p:txBody>
      </p:sp>
      <p:sp>
        <p:nvSpPr>
          <p:cNvPr id="7" name="Text 5"/>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AAB2C8"/>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8" name="Text 6"/>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AAB2C8"/>
                </a:solidFill>
                <a:latin typeface="Calibri" panose="020F0502020204030204" pitchFamily="34" charset="0"/>
                <a:ea typeface="Calibri" panose="020F0502020204030204" pitchFamily="34" charset="-122"/>
                <a:cs typeface="Calibri" panose="020F0502020204030204" pitchFamily="34" charset="-120"/>
              </a:rPr>
              <a:t>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About NovaPay Solutions</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A growing fintech company, and the digital footprint we need to protect</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Shape 3"/>
          <p:cNvSpPr/>
          <p:nvPr/>
        </p:nvSpPr>
        <p:spPr>
          <a:xfrm>
            <a:off x="548640" y="1737360"/>
            <a:ext cx="2606040" cy="1188720"/>
          </a:xfrm>
          <a:prstGeom prst="rect">
            <a:avLst/>
          </a:prstGeom>
          <a:solidFill>
            <a:srgbClr val="FFFFFF"/>
          </a:solidFill>
          <a:ln w="12700">
            <a:solidFill>
              <a:srgbClr val="CCCCCC"/>
            </a:solidFill>
            <a:prstDash val="solid"/>
          </a:ln>
        </p:spPr>
      </p:sp>
      <p:sp>
        <p:nvSpPr>
          <p:cNvPr id="6" name="Text 4"/>
          <p:cNvSpPr/>
          <p:nvPr/>
        </p:nvSpPr>
        <p:spPr>
          <a:xfrm>
            <a:off x="548640" y="1828800"/>
            <a:ext cx="2606040" cy="594360"/>
          </a:xfrm>
          <a:prstGeom prst="rect">
            <a:avLst/>
          </a:prstGeom>
          <a:noFill/>
        </p:spPr>
        <p:txBody>
          <a:bodyPr wrap="square" rtlCol="0" anchor="ctr"/>
          <a:lstStyle/>
          <a:p>
            <a:pPr marL="0" indent="0" algn="ctr">
              <a:buNone/>
            </a:pPr>
            <a:r>
              <a:rPr lang="en-US" sz="3000" b="1" dirty="0">
                <a:solidFill>
                  <a:srgbClr val="2E74B5"/>
                </a:solidFill>
                <a:latin typeface="Calibri" panose="020F0502020204030204" pitchFamily="34" charset="0"/>
                <a:ea typeface="Calibri" panose="020F0502020204030204" pitchFamily="34" charset="-122"/>
                <a:cs typeface="Calibri" panose="020F0502020204030204" pitchFamily="34" charset="-120"/>
              </a:rPr>
              <a:t>30</a:t>
            </a:r>
            <a:endParaRPr lang="en-US" sz="3000" dirty="0"/>
          </a:p>
        </p:txBody>
      </p:sp>
      <p:sp>
        <p:nvSpPr>
          <p:cNvPr id="7" name="Text 5"/>
          <p:cNvSpPr/>
          <p:nvPr/>
        </p:nvSpPr>
        <p:spPr>
          <a:xfrm>
            <a:off x="548640" y="2423160"/>
            <a:ext cx="2606040" cy="365760"/>
          </a:xfrm>
          <a:prstGeom prst="rect">
            <a:avLst/>
          </a:prstGeom>
          <a:noFill/>
        </p:spPr>
        <p:txBody>
          <a:bodyPr wrap="square" rtlCol="0" anchor="ctr"/>
          <a:lstStyle/>
          <a:p>
            <a:pPr marL="0" indent="0" algn="ctr">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Employees</a:t>
            </a:r>
            <a:endParaRPr lang="en-US" sz="1200" dirty="0"/>
          </a:p>
        </p:txBody>
      </p:sp>
      <p:sp>
        <p:nvSpPr>
          <p:cNvPr id="8" name="Shape 6"/>
          <p:cNvSpPr/>
          <p:nvPr/>
        </p:nvSpPr>
        <p:spPr>
          <a:xfrm>
            <a:off x="3337560" y="1737360"/>
            <a:ext cx="2606040" cy="1188720"/>
          </a:xfrm>
          <a:prstGeom prst="rect">
            <a:avLst/>
          </a:prstGeom>
          <a:solidFill>
            <a:srgbClr val="FFFFFF"/>
          </a:solidFill>
          <a:ln w="12700">
            <a:solidFill>
              <a:srgbClr val="CCCCCC"/>
            </a:solidFill>
            <a:prstDash val="solid"/>
          </a:ln>
        </p:spPr>
      </p:sp>
      <p:sp>
        <p:nvSpPr>
          <p:cNvPr id="9" name="Text 7"/>
          <p:cNvSpPr/>
          <p:nvPr/>
        </p:nvSpPr>
        <p:spPr>
          <a:xfrm>
            <a:off x="3337560" y="1828800"/>
            <a:ext cx="2606040" cy="594360"/>
          </a:xfrm>
          <a:prstGeom prst="rect">
            <a:avLst/>
          </a:prstGeom>
          <a:noFill/>
        </p:spPr>
        <p:txBody>
          <a:bodyPr wrap="square" rtlCol="0" anchor="ctr"/>
          <a:lstStyle/>
          <a:p>
            <a:pPr marL="0" indent="0" algn="ctr">
              <a:buNone/>
            </a:pPr>
            <a:r>
              <a:rPr lang="en-US" sz="3000" b="1" dirty="0">
                <a:solidFill>
                  <a:srgbClr val="2E74B5"/>
                </a:solidFill>
                <a:latin typeface="Calibri" panose="020F0502020204030204" pitchFamily="34" charset="0"/>
                <a:ea typeface="Calibri" panose="020F0502020204030204" pitchFamily="34" charset="-122"/>
                <a:cs typeface="Calibri" panose="020F0502020204030204" pitchFamily="34" charset="-120"/>
              </a:rPr>
              <a:t>25</a:t>
            </a:r>
            <a:endParaRPr lang="en-US" sz="3000" dirty="0"/>
          </a:p>
        </p:txBody>
      </p:sp>
      <p:sp>
        <p:nvSpPr>
          <p:cNvPr id="10" name="Text 8"/>
          <p:cNvSpPr/>
          <p:nvPr/>
        </p:nvSpPr>
        <p:spPr>
          <a:xfrm>
            <a:off x="3337560" y="2423160"/>
            <a:ext cx="2606040" cy="365760"/>
          </a:xfrm>
          <a:prstGeom prst="rect">
            <a:avLst/>
          </a:prstGeom>
          <a:noFill/>
        </p:spPr>
        <p:txBody>
          <a:bodyPr wrap="square" rtlCol="0" anchor="ctr"/>
          <a:lstStyle/>
          <a:p>
            <a:pPr marL="0" indent="0" algn="ctr">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Laptops</a:t>
            </a:r>
            <a:endParaRPr lang="en-US" sz="1200" dirty="0"/>
          </a:p>
        </p:txBody>
      </p:sp>
      <p:sp>
        <p:nvSpPr>
          <p:cNvPr id="11" name="Shape 9"/>
          <p:cNvSpPr/>
          <p:nvPr/>
        </p:nvSpPr>
        <p:spPr>
          <a:xfrm>
            <a:off x="6126480" y="1737360"/>
            <a:ext cx="2606040" cy="1188720"/>
          </a:xfrm>
          <a:prstGeom prst="rect">
            <a:avLst/>
          </a:prstGeom>
          <a:solidFill>
            <a:srgbClr val="FFFFFF"/>
          </a:solidFill>
          <a:ln w="12700">
            <a:solidFill>
              <a:srgbClr val="CCCCCC"/>
            </a:solidFill>
            <a:prstDash val="solid"/>
          </a:ln>
        </p:spPr>
      </p:sp>
      <p:sp>
        <p:nvSpPr>
          <p:cNvPr id="12" name="Text 10"/>
          <p:cNvSpPr/>
          <p:nvPr/>
        </p:nvSpPr>
        <p:spPr>
          <a:xfrm>
            <a:off x="6126480" y="1828800"/>
            <a:ext cx="2606040" cy="594360"/>
          </a:xfrm>
          <a:prstGeom prst="rect">
            <a:avLst/>
          </a:prstGeom>
          <a:noFill/>
        </p:spPr>
        <p:txBody>
          <a:bodyPr wrap="square" rtlCol="0" anchor="ctr"/>
          <a:lstStyle/>
          <a:p>
            <a:pPr marL="0" indent="0" algn="ctr">
              <a:buNone/>
            </a:pPr>
            <a:r>
              <a:rPr lang="en-US" sz="3000" b="1" dirty="0">
                <a:solidFill>
                  <a:srgbClr val="2E74B5"/>
                </a:solidFill>
                <a:latin typeface="Calibri" panose="020F0502020204030204" pitchFamily="34" charset="0"/>
                <a:ea typeface="Calibri" panose="020F0502020204030204" pitchFamily="34" charset="-122"/>
                <a:cs typeface="Calibri" panose="020F0502020204030204" pitchFamily="34" charset="-120"/>
              </a:rPr>
              <a:t>5</a:t>
            </a:r>
            <a:endParaRPr lang="en-US" sz="3000" dirty="0"/>
          </a:p>
        </p:txBody>
      </p:sp>
      <p:sp>
        <p:nvSpPr>
          <p:cNvPr id="13" name="Text 11"/>
          <p:cNvSpPr/>
          <p:nvPr/>
        </p:nvSpPr>
        <p:spPr>
          <a:xfrm>
            <a:off x="6126480" y="2423160"/>
            <a:ext cx="2606040" cy="365760"/>
          </a:xfrm>
          <a:prstGeom prst="rect">
            <a:avLst/>
          </a:prstGeom>
          <a:noFill/>
        </p:spPr>
        <p:txBody>
          <a:bodyPr wrap="square" rtlCol="0" anchor="ctr"/>
          <a:lstStyle/>
          <a:p>
            <a:pPr marL="0" indent="0" algn="ctr">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Desktop PCs</a:t>
            </a:r>
            <a:endParaRPr lang="en-US" sz="1200" dirty="0"/>
          </a:p>
        </p:txBody>
      </p:sp>
      <p:sp>
        <p:nvSpPr>
          <p:cNvPr id="14" name="Shape 12"/>
          <p:cNvSpPr/>
          <p:nvPr/>
        </p:nvSpPr>
        <p:spPr>
          <a:xfrm>
            <a:off x="8915400" y="1737360"/>
            <a:ext cx="2606040" cy="1188720"/>
          </a:xfrm>
          <a:prstGeom prst="rect">
            <a:avLst/>
          </a:prstGeom>
          <a:solidFill>
            <a:srgbClr val="FFFFFF"/>
          </a:solidFill>
          <a:ln w="12700">
            <a:solidFill>
              <a:srgbClr val="CCCCCC"/>
            </a:solidFill>
            <a:prstDash val="solid"/>
          </a:ln>
        </p:spPr>
      </p:sp>
      <p:sp>
        <p:nvSpPr>
          <p:cNvPr id="15" name="Text 13"/>
          <p:cNvSpPr/>
          <p:nvPr/>
        </p:nvSpPr>
        <p:spPr>
          <a:xfrm>
            <a:off x="8915400" y="1828800"/>
            <a:ext cx="2606040" cy="594360"/>
          </a:xfrm>
          <a:prstGeom prst="rect">
            <a:avLst/>
          </a:prstGeom>
          <a:noFill/>
        </p:spPr>
        <p:txBody>
          <a:bodyPr wrap="square" rtlCol="0" anchor="ctr"/>
          <a:lstStyle/>
          <a:p>
            <a:pPr marL="0" indent="0" algn="ctr">
              <a:buNone/>
            </a:pPr>
            <a:r>
              <a:rPr lang="en-US" sz="3000" b="1" dirty="0">
                <a:solidFill>
                  <a:srgbClr val="2E74B5"/>
                </a:solidFill>
                <a:latin typeface="Calibri" panose="020F0502020204030204" pitchFamily="34" charset="0"/>
                <a:ea typeface="Calibri" panose="020F0502020204030204" pitchFamily="34" charset="-122"/>
                <a:cs typeface="Calibri" panose="020F0502020204030204" pitchFamily="34" charset="-120"/>
              </a:rPr>
              <a:t>1</a:t>
            </a:r>
            <a:endParaRPr lang="en-US" sz="3000" dirty="0"/>
          </a:p>
        </p:txBody>
      </p:sp>
      <p:sp>
        <p:nvSpPr>
          <p:cNvPr id="16" name="Text 14"/>
          <p:cNvSpPr/>
          <p:nvPr/>
        </p:nvSpPr>
        <p:spPr>
          <a:xfrm>
            <a:off x="8915400" y="2423160"/>
            <a:ext cx="2606040" cy="365760"/>
          </a:xfrm>
          <a:prstGeom prst="rect">
            <a:avLst/>
          </a:prstGeom>
          <a:noFill/>
        </p:spPr>
        <p:txBody>
          <a:bodyPr wrap="square" rtlCol="0" anchor="ctr"/>
          <a:lstStyle/>
          <a:p>
            <a:pPr marL="0" indent="0" algn="ctr">
              <a:buNone/>
            </a:pPr>
            <a:r>
              <a:rPr lang="en-US" sz="1200" dirty="0">
                <a:solidFill>
                  <a:srgbClr val="666666"/>
                </a:solidFill>
                <a:latin typeface="Calibri" panose="020F0502020204030204" pitchFamily="34" charset="0"/>
                <a:ea typeface="Calibri" panose="020F0502020204030204" pitchFamily="34" charset="-122"/>
                <a:cs typeface="Calibri" panose="020F0502020204030204" pitchFamily="34" charset="-120"/>
              </a:rPr>
              <a:t>Company Wi-Fi Network</a:t>
            </a:r>
            <a:endParaRPr lang="en-US" sz="1200" dirty="0"/>
          </a:p>
        </p:txBody>
      </p:sp>
      <p:sp>
        <p:nvSpPr>
          <p:cNvPr id="17" name="Text 15"/>
          <p:cNvSpPr/>
          <p:nvPr/>
        </p:nvSpPr>
        <p:spPr>
          <a:xfrm>
            <a:off x="548640" y="3337560"/>
            <a:ext cx="54864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Digital Systems in Use</a:t>
            </a:r>
            <a:endParaRPr lang="en-US" sz="1600" dirty="0"/>
          </a:p>
        </p:txBody>
      </p:sp>
      <p:sp>
        <p:nvSpPr>
          <p:cNvPr id="18" name="Text 16"/>
          <p:cNvSpPr/>
          <p:nvPr/>
        </p:nvSpPr>
        <p:spPr>
          <a:xfrm>
            <a:off x="548640" y="3749040"/>
            <a:ext cx="10515600" cy="3657600"/>
          </a:xfrm>
          <a:prstGeom prst="rect">
            <a:avLst/>
          </a:prstGeom>
          <a:noFill/>
        </p:spPr>
        <p:txBody>
          <a:bodyPr wrap="square" rtlCol="0" anchor="t"/>
          <a:lstStyle/>
          <a:p>
            <a:pPr marL="228600" indent="-228600">
              <a:spcAft>
                <a:spcPts val="1200"/>
              </a:spcAft>
              <a:buSzPct val="100000"/>
              <a:buChar char="•"/>
            </a:pPr>
            <a:r>
              <a:rPr lang="en-US" sz="1400" dirty="0">
                <a:solidFill>
                  <a:srgbClr val="333333"/>
                </a:solidFill>
                <a:latin typeface="Calibri" panose="020F0502020204030204" pitchFamily="34" charset="0"/>
                <a:ea typeface="Calibri" panose="020F0502020204030204" pitchFamily="34" charset="-122"/>
                <a:cs typeface="Calibri" panose="020F0502020204030204" pitchFamily="34" charset="-120"/>
              </a:rPr>
              <a:t>E-commerce website</a:t>
            </a:r>
            <a:endParaRPr lang="en-US" sz="1400" dirty="0"/>
          </a:p>
          <a:p>
            <a:pPr marL="228600" indent="-228600">
              <a:spcAft>
                <a:spcPts val="1200"/>
              </a:spcAft>
              <a:buSzPct val="100000"/>
              <a:buChar char="•"/>
            </a:pPr>
            <a:r>
              <a:rPr lang="en-US" sz="1400" dirty="0">
                <a:solidFill>
                  <a:srgbClr val="333333"/>
                </a:solidFill>
                <a:latin typeface="Calibri" panose="020F0502020204030204" pitchFamily="34" charset="0"/>
                <a:ea typeface="Calibri" panose="020F0502020204030204" pitchFamily="34" charset="-122"/>
                <a:cs typeface="Calibri" panose="020F0502020204030204" pitchFamily="34" charset="-120"/>
              </a:rPr>
              <a:t>Social media accounts</a:t>
            </a:r>
            <a:endParaRPr lang="en-US" sz="1400" dirty="0"/>
          </a:p>
          <a:p>
            <a:pPr marL="228600" indent="-228600">
              <a:spcAft>
                <a:spcPts val="1200"/>
              </a:spcAft>
              <a:buSzPct val="100000"/>
              <a:buChar char="•"/>
            </a:pPr>
            <a:r>
              <a:rPr lang="en-US" sz="1400" dirty="0">
                <a:solidFill>
                  <a:srgbClr val="333333"/>
                </a:solidFill>
                <a:latin typeface="Calibri" panose="020F0502020204030204" pitchFamily="34" charset="0"/>
                <a:ea typeface="Calibri" panose="020F0502020204030204" pitchFamily="34" charset="-122"/>
                <a:cs typeface="Calibri" panose="020F0502020204030204" pitchFamily="34" charset="-120"/>
              </a:rPr>
              <a:t>Cloud-based email</a:t>
            </a:r>
            <a:endParaRPr lang="en-US" sz="1400" dirty="0"/>
          </a:p>
          <a:p>
            <a:pPr marL="228600" indent="-228600">
              <a:spcAft>
                <a:spcPts val="1200"/>
              </a:spcAft>
              <a:buSzPct val="100000"/>
              <a:buChar char="•"/>
            </a:pPr>
            <a:r>
              <a:rPr lang="en-US" sz="1400" dirty="0">
                <a:solidFill>
                  <a:srgbClr val="333333"/>
                </a:solidFill>
                <a:latin typeface="Calibri" panose="020F0502020204030204" pitchFamily="34" charset="0"/>
                <a:ea typeface="Calibri" panose="020F0502020204030204" pitchFamily="34" charset="-122"/>
                <a:cs typeface="Calibri" panose="020F0502020204030204" pitchFamily="34" charset="-120"/>
              </a:rPr>
              <a:t>Online payment systems</a:t>
            </a:r>
            <a:endParaRPr lang="en-US" sz="1400" dirty="0"/>
          </a:p>
          <a:p>
            <a:pPr marL="228600" indent="-228600">
              <a:spcAft>
                <a:spcPts val="1200"/>
              </a:spcAft>
              <a:buSzPct val="100000"/>
              <a:buChar char="•"/>
            </a:pPr>
            <a:r>
              <a:rPr lang="en-US" sz="1400" dirty="0">
                <a:solidFill>
                  <a:srgbClr val="333333"/>
                </a:solidFill>
                <a:latin typeface="Calibri" panose="020F0502020204030204" pitchFamily="34" charset="0"/>
                <a:ea typeface="Calibri" panose="020F0502020204030204" pitchFamily="34" charset="-122"/>
                <a:cs typeface="Calibri" panose="020F0502020204030204" pitchFamily="34" charset="-120"/>
              </a:rPr>
              <a:t>Remote employees connecting from outside the office</a:t>
            </a:r>
            <a:endParaRPr lang="en-US" sz="1400" dirty="0"/>
          </a:p>
        </p:txBody>
      </p:sp>
      <p:sp>
        <p:nvSpPr>
          <p:cNvPr id="19" name="Text 17"/>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20" name="Text 18"/>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What Happened?</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Seven suspicious security events in a single week</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Text 3"/>
          <p:cNvSpPr/>
          <p:nvPr/>
        </p:nvSpPr>
        <p:spPr>
          <a:xfrm>
            <a:off x="548640" y="1691640"/>
            <a:ext cx="11064240" cy="3657600"/>
          </a:xfrm>
          <a:prstGeom prst="rect">
            <a:avLst/>
          </a:prstGeom>
          <a:noFill/>
        </p:spPr>
        <p:txBody>
          <a:bodyPr wrap="square" rtlCol="0" anchor="t"/>
          <a:lstStyle/>
          <a:p>
            <a:pPr marL="228600" indent="-228600">
              <a:spcAft>
                <a:spcPts val="1800"/>
              </a:spcAft>
              <a:buSzPct val="100000"/>
              <a:buChar char="•"/>
            </a:pPr>
            <a:r>
              <a:rPr lang="en-US" sz="1500" dirty="0">
                <a:solidFill>
                  <a:srgbClr val="333333"/>
                </a:solidFill>
                <a:latin typeface="Calibri" panose="020F0502020204030204" pitchFamily="34" charset="0"/>
                <a:ea typeface="Calibri" panose="020F0502020204030204" pitchFamily="34" charset="-122"/>
                <a:cs typeface="Calibri" panose="020F0502020204030204" pitchFamily="34" charset="-120"/>
              </a:rPr>
              <a:t>1. Suspicious USB device plugged into a company PC</a:t>
            </a:r>
            <a:endParaRPr lang="en-US" sz="1500" dirty="0"/>
          </a:p>
          <a:p>
            <a:pPr marL="228600" indent="-228600">
              <a:spcAft>
                <a:spcPts val="1800"/>
              </a:spcAft>
              <a:buSzPct val="100000"/>
              <a:buChar char="•"/>
            </a:pPr>
            <a:r>
              <a:rPr lang="en-US" sz="1500" dirty="0">
                <a:solidFill>
                  <a:srgbClr val="333333"/>
                </a:solidFill>
                <a:latin typeface="Calibri" panose="020F0502020204030204" pitchFamily="34" charset="0"/>
                <a:ea typeface="Calibri" panose="020F0502020204030204" pitchFamily="34" charset="-122"/>
                <a:cs typeface="Calibri" panose="020F0502020204030204" pitchFamily="34" charset="-120"/>
              </a:rPr>
              <a:t>2. Employee passwords compromised — possible keylogging</a:t>
            </a:r>
            <a:endParaRPr lang="en-US" sz="1500" dirty="0"/>
          </a:p>
          <a:p>
            <a:pPr marL="228600" indent="-228600">
              <a:spcAft>
                <a:spcPts val="1800"/>
              </a:spcAft>
              <a:buSzPct val="100000"/>
              <a:buChar char="•"/>
            </a:pPr>
            <a:r>
              <a:rPr lang="en-US" sz="1500" dirty="0">
                <a:solidFill>
                  <a:srgbClr val="333333"/>
                </a:solidFill>
                <a:latin typeface="Calibri" panose="020F0502020204030204" pitchFamily="34" charset="0"/>
                <a:ea typeface="Calibri" panose="020F0502020204030204" pitchFamily="34" charset="-122"/>
                <a:cs typeface="Calibri" panose="020F0502020204030204" pitchFamily="34" charset="-120"/>
              </a:rPr>
              <a:t>3. Suspicious account login from an unusual location, late at night</a:t>
            </a:r>
            <a:endParaRPr lang="en-US" sz="1500" dirty="0"/>
          </a:p>
          <a:p>
            <a:pPr marL="228600" indent="-228600">
              <a:spcAft>
                <a:spcPts val="1800"/>
              </a:spcAft>
              <a:buSzPct val="100000"/>
              <a:buChar char="•"/>
            </a:pPr>
            <a:r>
              <a:rPr lang="en-US" sz="1500" dirty="0">
                <a:solidFill>
                  <a:srgbClr val="333333"/>
                </a:solidFill>
                <a:latin typeface="Calibri" panose="020F0502020204030204" pitchFamily="34" charset="0"/>
                <a:ea typeface="Calibri" panose="020F0502020204030204" pitchFamily="34" charset="-122"/>
                <a:cs typeface="Calibri" panose="020F0502020204030204" pitchFamily="34" charset="-120"/>
              </a:rPr>
              <a:t>4. Company PCs found loaded with third-party tracking cookies</a:t>
            </a:r>
            <a:endParaRPr lang="en-US" sz="1500" dirty="0"/>
          </a:p>
          <a:p>
            <a:pPr marL="228600" indent="-228600">
              <a:spcAft>
                <a:spcPts val="1800"/>
              </a:spcAft>
              <a:buSzPct val="100000"/>
              <a:buChar char="•"/>
            </a:pPr>
            <a:r>
              <a:rPr lang="en-US" sz="1500" dirty="0">
                <a:solidFill>
                  <a:srgbClr val="333333"/>
                </a:solidFill>
                <a:latin typeface="Calibri" panose="020F0502020204030204" pitchFamily="34" charset="0"/>
                <a:ea typeface="Calibri" panose="020F0502020204030204" pitchFamily="34" charset="-122"/>
                <a:cs typeface="Calibri" panose="020F0502020204030204" pitchFamily="34" charset="-120"/>
              </a:rPr>
              <a:t>5. Fake social media post claims NovaPay has collapsed</a:t>
            </a:r>
            <a:endParaRPr lang="en-US" sz="1500" dirty="0"/>
          </a:p>
          <a:p>
            <a:pPr marL="228600" indent="-228600">
              <a:spcAft>
                <a:spcPts val="1800"/>
              </a:spcAft>
              <a:buSzPct val="100000"/>
              <a:buChar char="•"/>
            </a:pPr>
            <a:r>
              <a:rPr lang="en-US" sz="1500" dirty="0">
                <a:solidFill>
                  <a:srgbClr val="333333"/>
                </a:solidFill>
                <a:latin typeface="Calibri" panose="020F0502020204030204" pitchFamily="34" charset="0"/>
                <a:ea typeface="Calibri" panose="020F0502020204030204" pitchFamily="34" charset="-122"/>
                <a:cs typeface="Calibri" panose="020F0502020204030204" pitchFamily="34" charset="-120"/>
              </a:rPr>
              <a:t>6. Employee credentials found in a leaked dark web database</a:t>
            </a:r>
            <a:endParaRPr lang="en-US" sz="1500" dirty="0"/>
          </a:p>
          <a:p>
            <a:pPr marL="228600" indent="-228600">
              <a:spcAft>
                <a:spcPts val="1800"/>
              </a:spcAft>
              <a:buSzPct val="100000"/>
              <a:buChar char="•"/>
            </a:pPr>
            <a:r>
              <a:rPr lang="en-US" sz="1500" dirty="0">
                <a:solidFill>
                  <a:srgbClr val="333333"/>
                </a:solidFill>
                <a:latin typeface="Calibri" panose="020F0502020204030204" pitchFamily="34" charset="0"/>
                <a:ea typeface="Calibri" panose="020F0502020204030204" pitchFamily="34" charset="-122"/>
                <a:cs typeface="Calibri" panose="020F0502020204030204" pitchFamily="34" charset="-120"/>
              </a:rPr>
              <a:t>7. Concern raised about exposing the company card on every purchase</a:t>
            </a:r>
            <a:endParaRPr lang="en-US" sz="1500" dirty="0"/>
          </a:p>
        </p:txBody>
      </p:sp>
      <p:sp>
        <p:nvSpPr>
          <p:cNvPr id="6" name="Text 4"/>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7" name="Text 5"/>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Security Risks Identified</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What these events expose NovaPay to</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Shape 3"/>
          <p:cNvSpPr/>
          <p:nvPr/>
        </p:nvSpPr>
        <p:spPr>
          <a:xfrm>
            <a:off x="548640" y="1691640"/>
            <a:ext cx="5349240" cy="1417320"/>
          </a:xfrm>
          <a:prstGeom prst="rect">
            <a:avLst/>
          </a:prstGeom>
          <a:solidFill>
            <a:srgbClr val="FFFFFF"/>
          </a:solidFill>
          <a:ln w="12700">
            <a:solidFill>
              <a:srgbClr val="CCCCCC"/>
            </a:solidFill>
            <a:prstDash val="solid"/>
          </a:ln>
        </p:spPr>
      </p:sp>
      <p:sp>
        <p:nvSpPr>
          <p:cNvPr id="6" name="Text 4"/>
          <p:cNvSpPr/>
          <p:nvPr/>
        </p:nvSpPr>
        <p:spPr>
          <a:xfrm>
            <a:off x="777240" y="1801368"/>
            <a:ext cx="4892040" cy="1197864"/>
          </a:xfrm>
          <a:prstGeom prst="rect">
            <a:avLst/>
          </a:prstGeom>
          <a:noFill/>
        </p:spPr>
        <p:txBody>
          <a:bodyPr wrap="square" rtlCol="0" anchor="t"/>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Credential Theft
</a:t>
            </a: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Passwords captured via keylogging and exposed in a dark web leak.</a:t>
            </a:r>
            <a:endParaRPr lang="en-US" sz="1400" dirty="0"/>
          </a:p>
        </p:txBody>
      </p:sp>
      <p:sp>
        <p:nvSpPr>
          <p:cNvPr id="7" name="Shape 5"/>
          <p:cNvSpPr/>
          <p:nvPr/>
        </p:nvSpPr>
        <p:spPr>
          <a:xfrm>
            <a:off x="6080760" y="1691640"/>
            <a:ext cx="5349240" cy="1417320"/>
          </a:xfrm>
          <a:prstGeom prst="rect">
            <a:avLst/>
          </a:prstGeom>
          <a:solidFill>
            <a:srgbClr val="FFFFFF"/>
          </a:solidFill>
          <a:ln w="12700">
            <a:solidFill>
              <a:srgbClr val="CCCCCC"/>
            </a:solidFill>
            <a:prstDash val="solid"/>
          </a:ln>
        </p:spPr>
      </p:sp>
      <p:sp>
        <p:nvSpPr>
          <p:cNvPr id="8" name="Text 6"/>
          <p:cNvSpPr/>
          <p:nvPr/>
        </p:nvSpPr>
        <p:spPr>
          <a:xfrm>
            <a:off x="6309360" y="1801368"/>
            <a:ext cx="4892040" cy="1197864"/>
          </a:xfrm>
          <a:prstGeom prst="rect">
            <a:avLst/>
          </a:prstGeom>
          <a:noFill/>
        </p:spPr>
        <p:txBody>
          <a:bodyPr wrap="square" rtlCol="0" anchor="t"/>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Malware Infection
</a:t>
            </a: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A rogue USB device likely delivered malicious software directly onto a company PC.</a:t>
            </a:r>
            <a:endParaRPr lang="en-US" sz="1400" dirty="0"/>
          </a:p>
        </p:txBody>
      </p:sp>
      <p:sp>
        <p:nvSpPr>
          <p:cNvPr id="9" name="Shape 7"/>
          <p:cNvSpPr/>
          <p:nvPr/>
        </p:nvSpPr>
        <p:spPr>
          <a:xfrm>
            <a:off x="548640" y="3291840"/>
            <a:ext cx="5349240" cy="1417320"/>
          </a:xfrm>
          <a:prstGeom prst="rect">
            <a:avLst/>
          </a:prstGeom>
          <a:solidFill>
            <a:srgbClr val="FFFFFF"/>
          </a:solidFill>
          <a:ln w="12700">
            <a:solidFill>
              <a:srgbClr val="CCCCCC"/>
            </a:solidFill>
            <a:prstDash val="solid"/>
          </a:ln>
        </p:spPr>
      </p:sp>
      <p:sp>
        <p:nvSpPr>
          <p:cNvPr id="10" name="Text 8"/>
          <p:cNvSpPr/>
          <p:nvPr/>
        </p:nvSpPr>
        <p:spPr>
          <a:xfrm>
            <a:off x="777240" y="3401568"/>
            <a:ext cx="4892040" cy="1197864"/>
          </a:xfrm>
          <a:prstGeom prst="rect">
            <a:avLst/>
          </a:prstGeom>
          <a:noFill/>
        </p:spPr>
        <p:txBody>
          <a:bodyPr wrap="square" rtlCol="0" anchor="t"/>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Unauthorized Access
</a:t>
            </a: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A login from an unusual location suggests an account is already compromised.</a:t>
            </a:r>
            <a:endParaRPr lang="en-US" sz="1400" dirty="0"/>
          </a:p>
        </p:txBody>
      </p:sp>
      <p:sp>
        <p:nvSpPr>
          <p:cNvPr id="11" name="Shape 9"/>
          <p:cNvSpPr/>
          <p:nvPr/>
        </p:nvSpPr>
        <p:spPr>
          <a:xfrm>
            <a:off x="6080760" y="3291840"/>
            <a:ext cx="5349240" cy="1417320"/>
          </a:xfrm>
          <a:prstGeom prst="rect">
            <a:avLst/>
          </a:prstGeom>
          <a:solidFill>
            <a:srgbClr val="FFFFFF"/>
          </a:solidFill>
          <a:ln w="12700">
            <a:solidFill>
              <a:srgbClr val="CCCCCC"/>
            </a:solidFill>
            <a:prstDash val="solid"/>
          </a:ln>
        </p:spPr>
      </p:sp>
      <p:sp>
        <p:nvSpPr>
          <p:cNvPr id="12" name="Text 10"/>
          <p:cNvSpPr/>
          <p:nvPr/>
        </p:nvSpPr>
        <p:spPr>
          <a:xfrm>
            <a:off x="6309360" y="3401568"/>
            <a:ext cx="4892040" cy="1197864"/>
          </a:xfrm>
          <a:prstGeom prst="rect">
            <a:avLst/>
          </a:prstGeom>
          <a:noFill/>
        </p:spPr>
        <p:txBody>
          <a:bodyPr wrap="square" rtlCol="0" anchor="t"/>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Reputation Damage
</a:t>
            </a: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A fake news post is actively spreading false claims about NovaPay's stability.</a:t>
            </a:r>
            <a:endParaRPr lang="en-US" sz="1400" dirty="0"/>
          </a:p>
        </p:txBody>
      </p:sp>
      <p:sp>
        <p:nvSpPr>
          <p:cNvPr id="13" name="Shape 11"/>
          <p:cNvSpPr/>
          <p:nvPr/>
        </p:nvSpPr>
        <p:spPr>
          <a:xfrm>
            <a:off x="548640" y="4892040"/>
            <a:ext cx="5349240" cy="1417320"/>
          </a:xfrm>
          <a:prstGeom prst="rect">
            <a:avLst/>
          </a:prstGeom>
          <a:solidFill>
            <a:srgbClr val="FFFFFF"/>
          </a:solidFill>
          <a:ln w="12700">
            <a:solidFill>
              <a:srgbClr val="CCCCCC"/>
            </a:solidFill>
            <a:prstDash val="solid"/>
          </a:ln>
        </p:spPr>
      </p:sp>
      <p:sp>
        <p:nvSpPr>
          <p:cNvPr id="14" name="Text 12"/>
          <p:cNvSpPr/>
          <p:nvPr/>
        </p:nvSpPr>
        <p:spPr>
          <a:xfrm>
            <a:off x="777240" y="5001768"/>
            <a:ext cx="4892040" cy="1197864"/>
          </a:xfrm>
          <a:prstGeom prst="rect">
            <a:avLst/>
          </a:prstGeom>
          <a:noFill/>
        </p:spPr>
        <p:txBody>
          <a:bodyPr wrap="square" rtlCol="0" anchor="t"/>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Privacy Exposure
</a:t>
            </a: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Heavy third-party cookie tracking on company machines raises data privacy concerns.</a:t>
            </a:r>
            <a:endParaRPr lang="en-US" sz="1400" dirty="0"/>
          </a:p>
        </p:txBody>
      </p:sp>
      <p:sp>
        <p:nvSpPr>
          <p:cNvPr id="15" name="Shape 13"/>
          <p:cNvSpPr/>
          <p:nvPr/>
        </p:nvSpPr>
        <p:spPr>
          <a:xfrm>
            <a:off x="6080760" y="4892040"/>
            <a:ext cx="5349240" cy="1417320"/>
          </a:xfrm>
          <a:prstGeom prst="rect">
            <a:avLst/>
          </a:prstGeom>
          <a:solidFill>
            <a:srgbClr val="FFFFFF"/>
          </a:solidFill>
          <a:ln w="12700">
            <a:solidFill>
              <a:srgbClr val="CCCCCC"/>
            </a:solidFill>
            <a:prstDash val="solid"/>
          </a:ln>
        </p:spPr>
      </p:sp>
      <p:sp>
        <p:nvSpPr>
          <p:cNvPr id="16" name="Text 14"/>
          <p:cNvSpPr/>
          <p:nvPr/>
        </p:nvSpPr>
        <p:spPr>
          <a:xfrm>
            <a:off x="6309360" y="5001768"/>
            <a:ext cx="4892040" cy="1197864"/>
          </a:xfrm>
          <a:prstGeom prst="rect">
            <a:avLst/>
          </a:prstGeom>
          <a:noFill/>
        </p:spPr>
        <p:txBody>
          <a:bodyPr wrap="square" rtlCol="0" anchor="t"/>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Payment Card Exposure
</a:t>
            </a: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The company's real card is exposed on every recurring online purchase.</a:t>
            </a:r>
            <a:endParaRPr lang="en-US" sz="1400" dirty="0"/>
          </a:p>
        </p:txBody>
      </p:sp>
      <p:sp>
        <p:nvSpPr>
          <p:cNvPr id="17" name="Text 15"/>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18" name="Text 16"/>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Who May Be Attacking Us, and Why?</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Profiling the likely threat actor behind this incident</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Text 3"/>
          <p:cNvSpPr/>
          <p:nvPr/>
        </p:nvSpPr>
        <p:spPr>
          <a:xfrm>
            <a:off x="548640" y="1691640"/>
            <a:ext cx="54864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Attacker Profile</a:t>
            </a:r>
            <a:endParaRPr lang="en-US" sz="1600" dirty="0"/>
          </a:p>
        </p:txBody>
      </p:sp>
      <p:sp>
        <p:nvSpPr>
          <p:cNvPr id="6" name="Text 4"/>
          <p:cNvSpPr/>
          <p:nvPr/>
        </p:nvSpPr>
        <p:spPr>
          <a:xfrm>
            <a:off x="548640" y="2103120"/>
            <a:ext cx="5486400" cy="3657600"/>
          </a:xfrm>
          <a:prstGeom prst="rect">
            <a:avLst/>
          </a:prstGeom>
          <a:noFill/>
        </p:spPr>
        <p:txBody>
          <a:bodyPr wrap="square" rtlCol="0" anchor="t"/>
          <a:lstStyle/>
          <a:p>
            <a:pPr marL="228600" indent="-228600">
              <a:spcAft>
                <a:spcPts val="16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The coordination across events — a physical baiting attack, a technical follow-up, credential trading, and a parallel disinformation campaign — points away from a lone amateur.</a:t>
            </a:r>
            <a:endParaRPr lang="en-US" sz="1300" dirty="0"/>
          </a:p>
          <a:p>
            <a:pPr marL="228600" indent="-228600">
              <a:spcAft>
                <a:spcPts val="16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This looks like a small, organized cybercriminal group: moderately sophisticated, financially motivated, and patient enough to chain several low-cost techniques together.</a:t>
            </a:r>
            <a:endParaRPr lang="en-US" sz="1300" dirty="0"/>
          </a:p>
          <a:p>
            <a:pPr marL="228600" indent="-228600">
              <a:spcAft>
                <a:spcPts val="16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Sophistication level: moderate — well-established techniques (USB baiting, keylogging), chained together with planning rather than custom advanced tooling.</a:t>
            </a:r>
            <a:endParaRPr lang="en-US" sz="1300" dirty="0"/>
          </a:p>
        </p:txBody>
      </p:sp>
      <p:sp>
        <p:nvSpPr>
          <p:cNvPr id="7" name="Text 5"/>
          <p:cNvSpPr/>
          <p:nvPr/>
        </p:nvSpPr>
        <p:spPr>
          <a:xfrm>
            <a:off x="6263640" y="1691640"/>
            <a:ext cx="54864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Likely Motivations</a:t>
            </a:r>
            <a:endParaRPr lang="en-US" sz="1600" dirty="0"/>
          </a:p>
        </p:txBody>
      </p:sp>
      <p:sp>
        <p:nvSpPr>
          <p:cNvPr id="8" name="Text 6"/>
          <p:cNvSpPr/>
          <p:nvPr/>
        </p:nvSpPr>
        <p:spPr>
          <a:xfrm>
            <a:off x="6263640" y="2103120"/>
            <a:ext cx="5394960" cy="3657600"/>
          </a:xfrm>
          <a:prstGeom prst="rect">
            <a:avLst/>
          </a:prstGeom>
          <a:noFill/>
        </p:spPr>
        <p:txBody>
          <a:bodyPr wrap="square" rtlCol="0" anchor="t"/>
          <a:lstStyle/>
          <a:p>
            <a:pPr marL="228600" indent="-228600">
              <a:spcAft>
                <a:spcPts val="200"/>
              </a:spcAft>
              <a:buSzPct val="100000"/>
              <a:buChar char="•"/>
            </a:pPr>
            <a:r>
              <a:rPr lang="en-US" sz="1300" b="1" dirty="0">
                <a:solidFill>
                  <a:srgbClr val="333333"/>
                </a:solidFill>
                <a:latin typeface="Calibri" panose="020F0502020204030204" pitchFamily="34" charset="0"/>
                <a:ea typeface="Calibri" panose="020F0502020204030204" pitchFamily="34" charset="-122"/>
                <a:cs typeface="Calibri" panose="020F0502020204030204" pitchFamily="34" charset="-120"/>
              </a:rPr>
              <a:t>Financial Gain — </a:t>
            </a:r>
            <a:endParaRPr lang="en-US" sz="1300" dirty="0"/>
          </a:p>
          <a:p>
            <a:pPr marL="228600" indent="-228600">
              <a:spcAft>
                <a:spcPts val="2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Direct access to customer funds or payment systems.</a:t>
            </a:r>
            <a:endParaRPr lang="en-US" sz="1300" dirty="0"/>
          </a:p>
          <a:p>
            <a:pPr marL="228600" indent="-228600">
              <a:spcAft>
                <a:spcPts val="200"/>
              </a:spcAft>
              <a:buSzPct val="100000"/>
              <a:buChar char="•"/>
            </a:pPr>
            <a:r>
              <a:rPr lang="en-US" sz="1300" b="1" dirty="0">
                <a:solidFill>
                  <a:srgbClr val="333333"/>
                </a:solidFill>
                <a:latin typeface="Calibri" panose="020F0502020204030204" pitchFamily="34" charset="0"/>
                <a:ea typeface="Calibri" panose="020F0502020204030204" pitchFamily="34" charset="-122"/>
                <a:cs typeface="Calibri" panose="020F0502020204030204" pitchFamily="34" charset="-120"/>
              </a:rPr>
              <a:t>Data Monetization — </a:t>
            </a:r>
            <a:endParaRPr lang="en-US" sz="1300" dirty="0"/>
          </a:p>
          <a:p>
            <a:pPr marL="228600" indent="-228600">
              <a:spcAft>
                <a:spcPts val="2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Stolen credentials and card data can be sold on dark web markets.</a:t>
            </a:r>
            <a:endParaRPr lang="en-US" sz="1300" dirty="0"/>
          </a:p>
          <a:p>
            <a:pPr marL="228600" indent="-228600">
              <a:spcAft>
                <a:spcPts val="200"/>
              </a:spcAft>
              <a:buSzPct val="100000"/>
              <a:buChar char="•"/>
            </a:pPr>
            <a:r>
              <a:rPr lang="en-US" sz="1300" b="1" dirty="0">
                <a:solidFill>
                  <a:srgbClr val="333333"/>
                </a:solidFill>
                <a:latin typeface="Calibri" panose="020F0502020204030204" pitchFamily="34" charset="0"/>
                <a:ea typeface="Calibri" panose="020F0502020204030204" pitchFamily="34" charset="-122"/>
                <a:cs typeface="Calibri" panose="020F0502020204030204" pitchFamily="34" charset="-120"/>
              </a:rPr>
              <a:t>Reputational Damage — </a:t>
            </a:r>
            <a:endParaRPr lang="en-US" sz="1300" dirty="0"/>
          </a:p>
          <a:p>
            <a:pPr marL="228600" indent="-228600">
              <a:spcAft>
                <a:spcPts val="2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The fake news post suggests intent to damage public trust.</a:t>
            </a:r>
            <a:endParaRPr lang="en-US" sz="1300" dirty="0"/>
          </a:p>
          <a:p>
            <a:pPr marL="228600" indent="-228600">
              <a:spcAft>
                <a:spcPts val="200"/>
              </a:spcAft>
              <a:buSzPct val="100000"/>
              <a:buChar char="•"/>
            </a:pPr>
            <a:r>
              <a:rPr lang="en-US" sz="1300" b="1" dirty="0">
                <a:solidFill>
                  <a:srgbClr val="333333"/>
                </a:solidFill>
                <a:latin typeface="Calibri" panose="020F0502020204030204" pitchFamily="34" charset="0"/>
                <a:ea typeface="Calibri" panose="020F0502020204030204" pitchFamily="34" charset="-122"/>
                <a:cs typeface="Calibri" panose="020F0502020204030204" pitchFamily="34" charset="-120"/>
              </a:rPr>
              <a:t>Distraction / Cover — </a:t>
            </a:r>
            <a:endParaRPr lang="en-US" sz="1300" dirty="0"/>
          </a:p>
          <a:p>
            <a:pPr marL="228600" indent="-228600">
              <a:spcAft>
                <a:spcPts val="2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A parallel disinformation push can mask the real intrusion.</a:t>
            </a:r>
            <a:endParaRPr lang="en-US" sz="1300" dirty="0"/>
          </a:p>
        </p:txBody>
      </p:sp>
      <p:sp>
        <p:nvSpPr>
          <p:cNvPr id="9" name="Text 7"/>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10" name="Text 8"/>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Cyber Kill Chain</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How the attack progressed, stage by stage</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Shape 3"/>
          <p:cNvSpPr/>
          <p:nvPr/>
        </p:nvSpPr>
        <p:spPr>
          <a:xfrm>
            <a:off x="525780" y="2286000"/>
            <a:ext cx="1481328" cy="1920240"/>
          </a:xfrm>
          <a:prstGeom prst="rect">
            <a:avLst/>
          </a:prstGeom>
          <a:solidFill>
            <a:srgbClr val="FFFFFF"/>
          </a:solidFill>
          <a:ln w="15875">
            <a:solidFill>
              <a:srgbClr val="1E2761"/>
            </a:solidFill>
            <a:prstDash val="solid"/>
          </a:ln>
        </p:spPr>
      </p:sp>
      <p:sp>
        <p:nvSpPr>
          <p:cNvPr id="6" name="Text 4"/>
          <p:cNvSpPr/>
          <p:nvPr/>
        </p:nvSpPr>
        <p:spPr>
          <a:xfrm>
            <a:off x="525780" y="2377440"/>
            <a:ext cx="1481328" cy="365760"/>
          </a:xfrm>
          <a:prstGeom prst="rect">
            <a:avLst/>
          </a:prstGeom>
          <a:noFill/>
        </p:spPr>
        <p:txBody>
          <a:bodyPr wrap="square" rtlCol="0" anchor="ctr"/>
          <a:lstStyle/>
          <a:p>
            <a:pPr marL="0" indent="0" algn="ctr">
              <a:buNone/>
            </a:pPr>
            <a:r>
              <a:rPr lang="en-US" sz="1800" b="1" dirty="0">
                <a:solidFill>
                  <a:srgbClr val="1E2761"/>
                </a:solidFill>
                <a:latin typeface="Calibri" panose="020F0502020204030204" pitchFamily="34" charset="0"/>
                <a:ea typeface="Calibri" panose="020F0502020204030204" pitchFamily="34" charset="-122"/>
                <a:cs typeface="Calibri" panose="020F0502020204030204" pitchFamily="34" charset="-120"/>
              </a:rPr>
              <a:t>1</a:t>
            </a:r>
            <a:endParaRPr lang="en-US" sz="1800" dirty="0"/>
          </a:p>
        </p:txBody>
      </p:sp>
      <p:sp>
        <p:nvSpPr>
          <p:cNvPr id="7" name="Text 5"/>
          <p:cNvSpPr/>
          <p:nvPr/>
        </p:nvSpPr>
        <p:spPr>
          <a:xfrm>
            <a:off x="580644" y="2788920"/>
            <a:ext cx="1371600" cy="365760"/>
          </a:xfrm>
          <a:prstGeom prst="rect">
            <a:avLst/>
          </a:prstGeom>
          <a:noFill/>
        </p:spPr>
        <p:txBody>
          <a:bodyPr wrap="square" rtlCol="0" anchor="ctr"/>
          <a:lstStyle/>
          <a:p>
            <a:pPr marL="0" indent="0" algn="ctr">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Recon</a:t>
            </a:r>
            <a:endParaRPr lang="en-US" sz="1200" dirty="0"/>
          </a:p>
        </p:txBody>
      </p:sp>
      <p:sp>
        <p:nvSpPr>
          <p:cNvPr id="8" name="Text 6"/>
          <p:cNvSpPr/>
          <p:nvPr/>
        </p:nvSpPr>
        <p:spPr>
          <a:xfrm>
            <a:off x="598932" y="3182112"/>
            <a:ext cx="1335024" cy="914400"/>
          </a:xfrm>
          <a:prstGeom prst="rect">
            <a:avLst/>
          </a:prstGeom>
          <a:noFill/>
        </p:spPr>
        <p:txBody>
          <a:bodyPr wrap="square" rtlCol="0" anchor="ctr"/>
          <a:lstStyle/>
          <a:p>
            <a:pPr marL="0" indent="0" algn="ctr">
              <a:buNone/>
            </a:pPr>
            <a:r>
              <a:rPr lang="en-US" sz="950" dirty="0">
                <a:solidFill>
                  <a:srgbClr val="666666"/>
                </a:solidFill>
                <a:latin typeface="Calibri" panose="020F0502020204030204" pitchFamily="34" charset="0"/>
                <a:ea typeface="Calibri" panose="020F0502020204030204" pitchFamily="34" charset="-122"/>
                <a:cs typeface="Calibri" panose="020F0502020204030204" pitchFamily="34" charset="-120"/>
              </a:rPr>
              <a:t>Attacker researches NovaPay &amp; staff</a:t>
            </a:r>
            <a:endParaRPr lang="en-US" sz="950" dirty="0"/>
          </a:p>
        </p:txBody>
      </p:sp>
      <p:sp>
        <p:nvSpPr>
          <p:cNvPr id="9" name="Shape 7"/>
          <p:cNvSpPr/>
          <p:nvPr/>
        </p:nvSpPr>
        <p:spPr>
          <a:xfrm rot="5400000">
            <a:off x="2011680" y="3163824"/>
            <a:ext cx="146304" cy="164592"/>
          </a:xfrm>
          <a:prstGeom prst="triangle">
            <a:avLst/>
          </a:prstGeom>
          <a:solidFill>
            <a:srgbClr val="666666"/>
          </a:solidFill>
        </p:spPr>
      </p:sp>
      <p:sp>
        <p:nvSpPr>
          <p:cNvPr id="10" name="Shape 8"/>
          <p:cNvSpPr/>
          <p:nvPr/>
        </p:nvSpPr>
        <p:spPr>
          <a:xfrm>
            <a:off x="2135124" y="2286000"/>
            <a:ext cx="1481328" cy="1920240"/>
          </a:xfrm>
          <a:prstGeom prst="rect">
            <a:avLst/>
          </a:prstGeom>
          <a:solidFill>
            <a:srgbClr val="FFFFFF"/>
          </a:solidFill>
          <a:ln w="15875">
            <a:solidFill>
              <a:srgbClr val="1E2761"/>
            </a:solidFill>
            <a:prstDash val="solid"/>
          </a:ln>
        </p:spPr>
      </p:sp>
      <p:sp>
        <p:nvSpPr>
          <p:cNvPr id="11" name="Text 9"/>
          <p:cNvSpPr/>
          <p:nvPr/>
        </p:nvSpPr>
        <p:spPr>
          <a:xfrm>
            <a:off x="2135124" y="2377440"/>
            <a:ext cx="1481328" cy="365760"/>
          </a:xfrm>
          <a:prstGeom prst="rect">
            <a:avLst/>
          </a:prstGeom>
          <a:noFill/>
        </p:spPr>
        <p:txBody>
          <a:bodyPr wrap="square" rtlCol="0" anchor="ctr"/>
          <a:lstStyle/>
          <a:p>
            <a:pPr marL="0" indent="0" algn="ctr">
              <a:buNone/>
            </a:pPr>
            <a:r>
              <a:rPr lang="en-US" sz="1800" b="1" dirty="0">
                <a:solidFill>
                  <a:srgbClr val="1E2761"/>
                </a:solidFill>
                <a:latin typeface="Calibri" panose="020F0502020204030204" pitchFamily="34" charset="0"/>
                <a:ea typeface="Calibri" panose="020F0502020204030204" pitchFamily="34" charset="-122"/>
                <a:cs typeface="Calibri" panose="020F0502020204030204" pitchFamily="34" charset="-120"/>
              </a:rPr>
              <a:t>2</a:t>
            </a:r>
            <a:endParaRPr lang="en-US" sz="1800" dirty="0"/>
          </a:p>
        </p:txBody>
      </p:sp>
      <p:sp>
        <p:nvSpPr>
          <p:cNvPr id="12" name="Text 10"/>
          <p:cNvSpPr/>
          <p:nvPr/>
        </p:nvSpPr>
        <p:spPr>
          <a:xfrm>
            <a:off x="2189988" y="2788920"/>
            <a:ext cx="1371600" cy="365760"/>
          </a:xfrm>
          <a:prstGeom prst="rect">
            <a:avLst/>
          </a:prstGeom>
          <a:noFill/>
        </p:spPr>
        <p:txBody>
          <a:bodyPr wrap="square" rtlCol="0" anchor="ctr"/>
          <a:lstStyle/>
          <a:p>
            <a:pPr marL="0" indent="0" algn="ctr">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Weaponize</a:t>
            </a:r>
            <a:endParaRPr lang="en-US" sz="1200" dirty="0"/>
          </a:p>
        </p:txBody>
      </p:sp>
      <p:sp>
        <p:nvSpPr>
          <p:cNvPr id="13" name="Text 11"/>
          <p:cNvSpPr/>
          <p:nvPr/>
        </p:nvSpPr>
        <p:spPr>
          <a:xfrm>
            <a:off x="2208276" y="3182112"/>
            <a:ext cx="1335024" cy="914400"/>
          </a:xfrm>
          <a:prstGeom prst="rect">
            <a:avLst/>
          </a:prstGeom>
          <a:noFill/>
        </p:spPr>
        <p:txBody>
          <a:bodyPr wrap="square" rtlCol="0" anchor="ctr"/>
          <a:lstStyle/>
          <a:p>
            <a:pPr marL="0" indent="0" algn="ctr">
              <a:buNone/>
            </a:pPr>
            <a:r>
              <a:rPr lang="en-US" sz="950" dirty="0">
                <a:solidFill>
                  <a:srgbClr val="666666"/>
                </a:solidFill>
                <a:latin typeface="Calibri" panose="020F0502020204030204" pitchFamily="34" charset="0"/>
                <a:ea typeface="Calibri" panose="020F0502020204030204" pitchFamily="34" charset="-122"/>
                <a:cs typeface="Calibri" panose="020F0502020204030204" pitchFamily="34" charset="-120"/>
              </a:rPr>
              <a:t>Malware prepared on a USB drive</a:t>
            </a:r>
            <a:endParaRPr lang="en-US" sz="950" dirty="0"/>
          </a:p>
        </p:txBody>
      </p:sp>
      <p:sp>
        <p:nvSpPr>
          <p:cNvPr id="14" name="Shape 12"/>
          <p:cNvSpPr/>
          <p:nvPr/>
        </p:nvSpPr>
        <p:spPr>
          <a:xfrm rot="5400000">
            <a:off x="3621024" y="3163824"/>
            <a:ext cx="146304" cy="164592"/>
          </a:xfrm>
          <a:prstGeom prst="triangle">
            <a:avLst/>
          </a:prstGeom>
          <a:solidFill>
            <a:srgbClr val="666666"/>
          </a:solidFill>
        </p:spPr>
      </p:sp>
      <p:sp>
        <p:nvSpPr>
          <p:cNvPr id="15" name="Shape 13"/>
          <p:cNvSpPr/>
          <p:nvPr/>
        </p:nvSpPr>
        <p:spPr>
          <a:xfrm>
            <a:off x="3744468" y="2286000"/>
            <a:ext cx="1481328" cy="1920240"/>
          </a:xfrm>
          <a:prstGeom prst="rect">
            <a:avLst/>
          </a:prstGeom>
          <a:solidFill>
            <a:srgbClr val="FFFFFF"/>
          </a:solidFill>
          <a:ln w="15875">
            <a:solidFill>
              <a:srgbClr val="1E2761"/>
            </a:solidFill>
            <a:prstDash val="solid"/>
          </a:ln>
        </p:spPr>
      </p:sp>
      <p:sp>
        <p:nvSpPr>
          <p:cNvPr id="16" name="Text 14"/>
          <p:cNvSpPr/>
          <p:nvPr/>
        </p:nvSpPr>
        <p:spPr>
          <a:xfrm>
            <a:off x="3744468" y="2377440"/>
            <a:ext cx="1481328" cy="365760"/>
          </a:xfrm>
          <a:prstGeom prst="rect">
            <a:avLst/>
          </a:prstGeom>
          <a:noFill/>
        </p:spPr>
        <p:txBody>
          <a:bodyPr wrap="square" rtlCol="0" anchor="ctr"/>
          <a:lstStyle/>
          <a:p>
            <a:pPr marL="0" indent="0" algn="ctr">
              <a:buNone/>
            </a:pPr>
            <a:r>
              <a:rPr lang="en-US" sz="1800" b="1" dirty="0">
                <a:solidFill>
                  <a:srgbClr val="1E2761"/>
                </a:solidFill>
                <a:latin typeface="Calibri" panose="020F0502020204030204" pitchFamily="34" charset="0"/>
                <a:ea typeface="Calibri" panose="020F0502020204030204" pitchFamily="34" charset="-122"/>
                <a:cs typeface="Calibri" panose="020F0502020204030204" pitchFamily="34" charset="-120"/>
              </a:rPr>
              <a:t>3</a:t>
            </a:r>
            <a:endParaRPr lang="en-US" sz="1800" dirty="0"/>
          </a:p>
        </p:txBody>
      </p:sp>
      <p:sp>
        <p:nvSpPr>
          <p:cNvPr id="17" name="Text 15"/>
          <p:cNvSpPr/>
          <p:nvPr/>
        </p:nvSpPr>
        <p:spPr>
          <a:xfrm>
            <a:off x="3799332" y="2788920"/>
            <a:ext cx="1371600" cy="365760"/>
          </a:xfrm>
          <a:prstGeom prst="rect">
            <a:avLst/>
          </a:prstGeom>
          <a:noFill/>
        </p:spPr>
        <p:txBody>
          <a:bodyPr wrap="square" rtlCol="0" anchor="ctr"/>
          <a:lstStyle/>
          <a:p>
            <a:pPr marL="0" indent="0" algn="ctr">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Delivery</a:t>
            </a:r>
            <a:endParaRPr lang="en-US" sz="1200" dirty="0"/>
          </a:p>
        </p:txBody>
      </p:sp>
      <p:sp>
        <p:nvSpPr>
          <p:cNvPr id="18" name="Text 16"/>
          <p:cNvSpPr/>
          <p:nvPr/>
        </p:nvSpPr>
        <p:spPr>
          <a:xfrm>
            <a:off x="3817620" y="3182112"/>
            <a:ext cx="1335024" cy="914400"/>
          </a:xfrm>
          <a:prstGeom prst="rect">
            <a:avLst/>
          </a:prstGeom>
          <a:noFill/>
        </p:spPr>
        <p:txBody>
          <a:bodyPr wrap="square" rtlCol="0" anchor="ctr"/>
          <a:lstStyle/>
          <a:p>
            <a:pPr marL="0" indent="0" algn="ctr">
              <a:buNone/>
            </a:pPr>
            <a:r>
              <a:rPr lang="en-US" sz="950" dirty="0">
                <a:solidFill>
                  <a:srgbClr val="666666"/>
                </a:solidFill>
                <a:latin typeface="Calibri" panose="020F0502020204030204" pitchFamily="34" charset="0"/>
                <a:ea typeface="Calibri" panose="020F0502020204030204" pitchFamily="34" charset="-122"/>
                <a:cs typeface="Calibri" panose="020F0502020204030204" pitchFamily="34" charset="-120"/>
              </a:rPr>
              <a:t>USB left outside the office</a:t>
            </a:r>
            <a:endParaRPr lang="en-US" sz="950" dirty="0"/>
          </a:p>
        </p:txBody>
      </p:sp>
      <p:sp>
        <p:nvSpPr>
          <p:cNvPr id="19" name="Shape 17"/>
          <p:cNvSpPr/>
          <p:nvPr/>
        </p:nvSpPr>
        <p:spPr>
          <a:xfrm rot="5400000">
            <a:off x="5230368" y="3163824"/>
            <a:ext cx="146304" cy="164592"/>
          </a:xfrm>
          <a:prstGeom prst="triangle">
            <a:avLst/>
          </a:prstGeom>
          <a:solidFill>
            <a:srgbClr val="666666"/>
          </a:solidFill>
        </p:spPr>
      </p:sp>
      <p:sp>
        <p:nvSpPr>
          <p:cNvPr id="20" name="Shape 18"/>
          <p:cNvSpPr/>
          <p:nvPr/>
        </p:nvSpPr>
        <p:spPr>
          <a:xfrm>
            <a:off x="5353812" y="2286000"/>
            <a:ext cx="1481328" cy="1920240"/>
          </a:xfrm>
          <a:prstGeom prst="rect">
            <a:avLst/>
          </a:prstGeom>
          <a:solidFill>
            <a:srgbClr val="FFFFFF"/>
          </a:solidFill>
          <a:ln w="15875">
            <a:solidFill>
              <a:srgbClr val="1E2761"/>
            </a:solidFill>
            <a:prstDash val="solid"/>
          </a:ln>
        </p:spPr>
      </p:sp>
      <p:sp>
        <p:nvSpPr>
          <p:cNvPr id="21" name="Text 19"/>
          <p:cNvSpPr/>
          <p:nvPr/>
        </p:nvSpPr>
        <p:spPr>
          <a:xfrm>
            <a:off x="5353812" y="2377440"/>
            <a:ext cx="1481328" cy="365760"/>
          </a:xfrm>
          <a:prstGeom prst="rect">
            <a:avLst/>
          </a:prstGeom>
          <a:noFill/>
        </p:spPr>
        <p:txBody>
          <a:bodyPr wrap="square" rtlCol="0" anchor="ctr"/>
          <a:lstStyle/>
          <a:p>
            <a:pPr marL="0" indent="0" algn="ctr">
              <a:buNone/>
            </a:pPr>
            <a:r>
              <a:rPr lang="en-US" sz="1800" b="1" dirty="0">
                <a:solidFill>
                  <a:srgbClr val="1E2761"/>
                </a:solidFill>
                <a:latin typeface="Calibri" panose="020F0502020204030204" pitchFamily="34" charset="0"/>
                <a:ea typeface="Calibri" panose="020F0502020204030204" pitchFamily="34" charset="-122"/>
                <a:cs typeface="Calibri" panose="020F0502020204030204" pitchFamily="34" charset="-120"/>
              </a:rPr>
              <a:t>4</a:t>
            </a:r>
            <a:endParaRPr lang="en-US" sz="1800" dirty="0"/>
          </a:p>
        </p:txBody>
      </p:sp>
      <p:sp>
        <p:nvSpPr>
          <p:cNvPr id="22" name="Text 20"/>
          <p:cNvSpPr/>
          <p:nvPr/>
        </p:nvSpPr>
        <p:spPr>
          <a:xfrm>
            <a:off x="5408676" y="2788920"/>
            <a:ext cx="1371600" cy="365760"/>
          </a:xfrm>
          <a:prstGeom prst="rect">
            <a:avLst/>
          </a:prstGeom>
          <a:noFill/>
        </p:spPr>
        <p:txBody>
          <a:bodyPr wrap="square" rtlCol="0" anchor="ctr"/>
          <a:lstStyle/>
          <a:p>
            <a:pPr marL="0" indent="0" algn="ctr">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Exploit</a:t>
            </a:r>
            <a:endParaRPr lang="en-US" sz="1200" dirty="0"/>
          </a:p>
        </p:txBody>
      </p:sp>
      <p:sp>
        <p:nvSpPr>
          <p:cNvPr id="23" name="Text 21"/>
          <p:cNvSpPr/>
          <p:nvPr/>
        </p:nvSpPr>
        <p:spPr>
          <a:xfrm>
            <a:off x="5426964" y="3182112"/>
            <a:ext cx="1335024" cy="914400"/>
          </a:xfrm>
          <a:prstGeom prst="rect">
            <a:avLst/>
          </a:prstGeom>
          <a:noFill/>
        </p:spPr>
        <p:txBody>
          <a:bodyPr wrap="square" rtlCol="0" anchor="ctr"/>
          <a:lstStyle/>
          <a:p>
            <a:pPr marL="0" indent="0" algn="ctr">
              <a:buNone/>
            </a:pPr>
            <a:r>
              <a:rPr lang="en-US" sz="950" dirty="0">
                <a:solidFill>
                  <a:srgbClr val="666666"/>
                </a:solidFill>
                <a:latin typeface="Calibri" panose="020F0502020204030204" pitchFamily="34" charset="0"/>
                <a:ea typeface="Calibri" panose="020F0502020204030204" pitchFamily="34" charset="-122"/>
                <a:cs typeface="Calibri" panose="020F0502020204030204" pitchFamily="34" charset="-120"/>
              </a:rPr>
              <a:t>Employee plugs in the USB</a:t>
            </a:r>
            <a:endParaRPr lang="en-US" sz="950" dirty="0"/>
          </a:p>
        </p:txBody>
      </p:sp>
      <p:sp>
        <p:nvSpPr>
          <p:cNvPr id="24" name="Shape 22"/>
          <p:cNvSpPr/>
          <p:nvPr/>
        </p:nvSpPr>
        <p:spPr>
          <a:xfrm rot="5400000">
            <a:off x="6839712" y="3163824"/>
            <a:ext cx="146304" cy="164592"/>
          </a:xfrm>
          <a:prstGeom prst="triangle">
            <a:avLst/>
          </a:prstGeom>
          <a:solidFill>
            <a:srgbClr val="666666"/>
          </a:solidFill>
        </p:spPr>
      </p:sp>
      <p:sp>
        <p:nvSpPr>
          <p:cNvPr id="25" name="Shape 23"/>
          <p:cNvSpPr/>
          <p:nvPr/>
        </p:nvSpPr>
        <p:spPr>
          <a:xfrm>
            <a:off x="6963156" y="2286000"/>
            <a:ext cx="1481328" cy="1920240"/>
          </a:xfrm>
          <a:prstGeom prst="rect">
            <a:avLst/>
          </a:prstGeom>
          <a:solidFill>
            <a:srgbClr val="FFFFFF"/>
          </a:solidFill>
          <a:ln w="15875">
            <a:solidFill>
              <a:srgbClr val="1E2761"/>
            </a:solidFill>
            <a:prstDash val="solid"/>
          </a:ln>
        </p:spPr>
      </p:sp>
      <p:sp>
        <p:nvSpPr>
          <p:cNvPr id="26" name="Text 24"/>
          <p:cNvSpPr/>
          <p:nvPr/>
        </p:nvSpPr>
        <p:spPr>
          <a:xfrm>
            <a:off x="6963156" y="2377440"/>
            <a:ext cx="1481328" cy="365760"/>
          </a:xfrm>
          <a:prstGeom prst="rect">
            <a:avLst/>
          </a:prstGeom>
          <a:noFill/>
        </p:spPr>
        <p:txBody>
          <a:bodyPr wrap="square" rtlCol="0" anchor="ctr"/>
          <a:lstStyle/>
          <a:p>
            <a:pPr marL="0" indent="0" algn="ctr">
              <a:buNone/>
            </a:pPr>
            <a:r>
              <a:rPr lang="en-US" sz="1800" b="1" dirty="0">
                <a:solidFill>
                  <a:srgbClr val="1E2761"/>
                </a:solidFill>
                <a:latin typeface="Calibri" panose="020F0502020204030204" pitchFamily="34" charset="0"/>
                <a:ea typeface="Calibri" panose="020F0502020204030204" pitchFamily="34" charset="-122"/>
                <a:cs typeface="Calibri" panose="020F0502020204030204" pitchFamily="34" charset="-120"/>
              </a:rPr>
              <a:t>5</a:t>
            </a:r>
            <a:endParaRPr lang="en-US" sz="1800" dirty="0"/>
          </a:p>
        </p:txBody>
      </p:sp>
      <p:sp>
        <p:nvSpPr>
          <p:cNvPr id="27" name="Text 25"/>
          <p:cNvSpPr/>
          <p:nvPr/>
        </p:nvSpPr>
        <p:spPr>
          <a:xfrm>
            <a:off x="7018020" y="2788920"/>
            <a:ext cx="1371600" cy="365760"/>
          </a:xfrm>
          <a:prstGeom prst="rect">
            <a:avLst/>
          </a:prstGeom>
          <a:noFill/>
        </p:spPr>
        <p:txBody>
          <a:bodyPr wrap="square" rtlCol="0" anchor="ctr"/>
          <a:lstStyle/>
          <a:p>
            <a:pPr marL="0" indent="0" algn="ctr">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Install</a:t>
            </a:r>
            <a:endParaRPr lang="en-US" sz="1200" dirty="0"/>
          </a:p>
        </p:txBody>
      </p:sp>
      <p:sp>
        <p:nvSpPr>
          <p:cNvPr id="28" name="Text 26"/>
          <p:cNvSpPr/>
          <p:nvPr/>
        </p:nvSpPr>
        <p:spPr>
          <a:xfrm>
            <a:off x="7036308" y="3182112"/>
            <a:ext cx="1335024" cy="914400"/>
          </a:xfrm>
          <a:prstGeom prst="rect">
            <a:avLst/>
          </a:prstGeom>
          <a:noFill/>
        </p:spPr>
        <p:txBody>
          <a:bodyPr wrap="square" rtlCol="0" anchor="ctr"/>
          <a:lstStyle/>
          <a:p>
            <a:pPr marL="0" indent="0" algn="ctr">
              <a:buNone/>
            </a:pPr>
            <a:r>
              <a:rPr lang="en-US" sz="950" dirty="0">
                <a:solidFill>
                  <a:srgbClr val="666666"/>
                </a:solidFill>
                <a:latin typeface="Calibri" panose="020F0502020204030204" pitchFamily="34" charset="0"/>
                <a:ea typeface="Calibri" panose="020F0502020204030204" pitchFamily="34" charset="-122"/>
                <a:cs typeface="Calibri" panose="020F0502020204030204" pitchFamily="34" charset="-120"/>
              </a:rPr>
              <a:t>Keylogger installs on the PC</a:t>
            </a:r>
            <a:endParaRPr lang="en-US" sz="950" dirty="0"/>
          </a:p>
        </p:txBody>
      </p:sp>
      <p:sp>
        <p:nvSpPr>
          <p:cNvPr id="29" name="Shape 27"/>
          <p:cNvSpPr/>
          <p:nvPr/>
        </p:nvSpPr>
        <p:spPr>
          <a:xfrm rot="5400000">
            <a:off x="8449056" y="3163824"/>
            <a:ext cx="146304" cy="164592"/>
          </a:xfrm>
          <a:prstGeom prst="triangle">
            <a:avLst/>
          </a:prstGeom>
          <a:solidFill>
            <a:srgbClr val="666666"/>
          </a:solidFill>
        </p:spPr>
      </p:sp>
      <p:sp>
        <p:nvSpPr>
          <p:cNvPr id="30" name="Shape 28"/>
          <p:cNvSpPr/>
          <p:nvPr/>
        </p:nvSpPr>
        <p:spPr>
          <a:xfrm>
            <a:off x="8572500" y="2286000"/>
            <a:ext cx="1481328" cy="1920240"/>
          </a:xfrm>
          <a:prstGeom prst="rect">
            <a:avLst/>
          </a:prstGeom>
          <a:solidFill>
            <a:srgbClr val="FFFFFF"/>
          </a:solidFill>
          <a:ln w="15875">
            <a:solidFill>
              <a:srgbClr val="1E2761"/>
            </a:solidFill>
            <a:prstDash val="solid"/>
          </a:ln>
        </p:spPr>
      </p:sp>
      <p:sp>
        <p:nvSpPr>
          <p:cNvPr id="31" name="Text 29"/>
          <p:cNvSpPr/>
          <p:nvPr/>
        </p:nvSpPr>
        <p:spPr>
          <a:xfrm>
            <a:off x="8572500" y="2377440"/>
            <a:ext cx="1481328" cy="365760"/>
          </a:xfrm>
          <a:prstGeom prst="rect">
            <a:avLst/>
          </a:prstGeom>
          <a:noFill/>
        </p:spPr>
        <p:txBody>
          <a:bodyPr wrap="square" rtlCol="0" anchor="ctr"/>
          <a:lstStyle/>
          <a:p>
            <a:pPr marL="0" indent="0" algn="ctr">
              <a:buNone/>
            </a:pPr>
            <a:r>
              <a:rPr lang="en-US" sz="1800" b="1" dirty="0">
                <a:solidFill>
                  <a:srgbClr val="1E2761"/>
                </a:solidFill>
                <a:latin typeface="Calibri" panose="020F0502020204030204" pitchFamily="34" charset="0"/>
                <a:ea typeface="Calibri" panose="020F0502020204030204" pitchFamily="34" charset="-122"/>
                <a:cs typeface="Calibri" panose="020F0502020204030204" pitchFamily="34" charset="-120"/>
              </a:rPr>
              <a:t>6</a:t>
            </a:r>
            <a:endParaRPr lang="en-US" sz="1800" dirty="0"/>
          </a:p>
        </p:txBody>
      </p:sp>
      <p:sp>
        <p:nvSpPr>
          <p:cNvPr id="32" name="Text 30"/>
          <p:cNvSpPr/>
          <p:nvPr/>
        </p:nvSpPr>
        <p:spPr>
          <a:xfrm>
            <a:off x="8627364" y="2788920"/>
            <a:ext cx="1371600" cy="365760"/>
          </a:xfrm>
          <a:prstGeom prst="rect">
            <a:avLst/>
          </a:prstGeom>
          <a:noFill/>
        </p:spPr>
        <p:txBody>
          <a:bodyPr wrap="square" rtlCol="0" anchor="ctr"/>
          <a:lstStyle/>
          <a:p>
            <a:pPr marL="0" indent="0" algn="ctr">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C2</a:t>
            </a:r>
            <a:endParaRPr lang="en-US" sz="1200" dirty="0"/>
          </a:p>
        </p:txBody>
      </p:sp>
      <p:sp>
        <p:nvSpPr>
          <p:cNvPr id="33" name="Text 31"/>
          <p:cNvSpPr/>
          <p:nvPr/>
        </p:nvSpPr>
        <p:spPr>
          <a:xfrm>
            <a:off x="8645652" y="3182112"/>
            <a:ext cx="1335024" cy="914400"/>
          </a:xfrm>
          <a:prstGeom prst="rect">
            <a:avLst/>
          </a:prstGeom>
          <a:noFill/>
        </p:spPr>
        <p:txBody>
          <a:bodyPr wrap="square" rtlCol="0" anchor="ctr"/>
          <a:lstStyle/>
          <a:p>
            <a:pPr marL="0" indent="0" algn="ctr">
              <a:buNone/>
            </a:pPr>
            <a:r>
              <a:rPr lang="en-US" sz="950" dirty="0">
                <a:solidFill>
                  <a:srgbClr val="666666"/>
                </a:solidFill>
                <a:latin typeface="Calibri" panose="020F0502020204030204" pitchFamily="34" charset="0"/>
                <a:ea typeface="Calibri" panose="020F0502020204030204" pitchFamily="34" charset="-122"/>
                <a:cs typeface="Calibri" panose="020F0502020204030204" pitchFamily="34" charset="-120"/>
              </a:rPr>
              <a:t>Infected PC contacts attacker</a:t>
            </a:r>
            <a:endParaRPr lang="en-US" sz="950" dirty="0"/>
          </a:p>
        </p:txBody>
      </p:sp>
      <p:sp>
        <p:nvSpPr>
          <p:cNvPr id="34" name="Shape 32"/>
          <p:cNvSpPr/>
          <p:nvPr/>
        </p:nvSpPr>
        <p:spPr>
          <a:xfrm rot="5400000">
            <a:off x="10058400" y="3163824"/>
            <a:ext cx="146304" cy="164592"/>
          </a:xfrm>
          <a:prstGeom prst="triangle">
            <a:avLst/>
          </a:prstGeom>
          <a:solidFill>
            <a:srgbClr val="666666"/>
          </a:solidFill>
        </p:spPr>
      </p:sp>
      <p:sp>
        <p:nvSpPr>
          <p:cNvPr id="35" name="Shape 33"/>
          <p:cNvSpPr/>
          <p:nvPr/>
        </p:nvSpPr>
        <p:spPr>
          <a:xfrm>
            <a:off x="10181844" y="2286000"/>
            <a:ext cx="1481328" cy="1920240"/>
          </a:xfrm>
          <a:prstGeom prst="rect">
            <a:avLst/>
          </a:prstGeom>
          <a:solidFill>
            <a:srgbClr val="FFFFFF"/>
          </a:solidFill>
          <a:ln w="15875">
            <a:solidFill>
              <a:srgbClr val="1E2761"/>
            </a:solidFill>
            <a:prstDash val="solid"/>
          </a:ln>
        </p:spPr>
      </p:sp>
      <p:sp>
        <p:nvSpPr>
          <p:cNvPr id="36" name="Text 34"/>
          <p:cNvSpPr/>
          <p:nvPr/>
        </p:nvSpPr>
        <p:spPr>
          <a:xfrm>
            <a:off x="10181844" y="2377440"/>
            <a:ext cx="1481328" cy="365760"/>
          </a:xfrm>
          <a:prstGeom prst="rect">
            <a:avLst/>
          </a:prstGeom>
          <a:noFill/>
        </p:spPr>
        <p:txBody>
          <a:bodyPr wrap="square" rtlCol="0" anchor="ctr"/>
          <a:lstStyle/>
          <a:p>
            <a:pPr marL="0" indent="0" algn="ctr">
              <a:buNone/>
            </a:pPr>
            <a:r>
              <a:rPr lang="en-US" sz="1800" b="1" dirty="0">
                <a:solidFill>
                  <a:srgbClr val="1E2761"/>
                </a:solidFill>
                <a:latin typeface="Calibri" panose="020F0502020204030204" pitchFamily="34" charset="0"/>
                <a:ea typeface="Calibri" panose="020F0502020204030204" pitchFamily="34" charset="-122"/>
                <a:cs typeface="Calibri" panose="020F0502020204030204" pitchFamily="34" charset="-120"/>
              </a:rPr>
              <a:t>7</a:t>
            </a:r>
            <a:endParaRPr lang="en-US" sz="1800" dirty="0"/>
          </a:p>
        </p:txBody>
      </p:sp>
      <p:sp>
        <p:nvSpPr>
          <p:cNvPr id="37" name="Text 35"/>
          <p:cNvSpPr/>
          <p:nvPr/>
        </p:nvSpPr>
        <p:spPr>
          <a:xfrm>
            <a:off x="10236708" y="2788920"/>
            <a:ext cx="1371600" cy="365760"/>
          </a:xfrm>
          <a:prstGeom prst="rect">
            <a:avLst/>
          </a:prstGeom>
          <a:noFill/>
        </p:spPr>
        <p:txBody>
          <a:bodyPr wrap="square" rtlCol="0" anchor="ctr"/>
          <a:lstStyle/>
          <a:p>
            <a:pPr marL="0" indent="0" algn="ctr">
              <a:buNone/>
            </a:pPr>
            <a:r>
              <a:rPr lang="en-US" sz="1200" b="1" dirty="0">
                <a:solidFill>
                  <a:srgbClr val="1E2761"/>
                </a:solidFill>
                <a:latin typeface="Calibri" panose="020F0502020204030204" pitchFamily="34" charset="0"/>
                <a:ea typeface="Calibri" panose="020F0502020204030204" pitchFamily="34" charset="-122"/>
                <a:cs typeface="Calibri" panose="020F0502020204030204" pitchFamily="34" charset="-120"/>
              </a:rPr>
              <a:t>Objectives</a:t>
            </a:r>
            <a:endParaRPr lang="en-US" sz="1200" dirty="0"/>
          </a:p>
        </p:txBody>
      </p:sp>
      <p:sp>
        <p:nvSpPr>
          <p:cNvPr id="38" name="Text 36"/>
          <p:cNvSpPr/>
          <p:nvPr/>
        </p:nvSpPr>
        <p:spPr>
          <a:xfrm>
            <a:off x="10254996" y="3182112"/>
            <a:ext cx="1335024" cy="914400"/>
          </a:xfrm>
          <a:prstGeom prst="rect">
            <a:avLst/>
          </a:prstGeom>
          <a:noFill/>
        </p:spPr>
        <p:txBody>
          <a:bodyPr wrap="square" rtlCol="0" anchor="ctr"/>
          <a:lstStyle/>
          <a:p>
            <a:pPr marL="0" indent="0" algn="ctr">
              <a:buNone/>
            </a:pPr>
            <a:r>
              <a:rPr lang="en-US" sz="950" dirty="0">
                <a:solidFill>
                  <a:srgbClr val="666666"/>
                </a:solidFill>
                <a:latin typeface="Calibri" panose="020F0502020204030204" pitchFamily="34" charset="0"/>
                <a:ea typeface="Calibri" panose="020F0502020204030204" pitchFamily="34" charset="-122"/>
                <a:cs typeface="Calibri" panose="020F0502020204030204" pitchFamily="34" charset="-120"/>
              </a:rPr>
              <a:t>Passwords stolen, data at risk</a:t>
            </a:r>
            <a:endParaRPr lang="en-US" sz="950" dirty="0"/>
          </a:p>
        </p:txBody>
      </p:sp>
      <p:sp>
        <p:nvSpPr>
          <p:cNvPr id="39" name="Text 37"/>
          <p:cNvSpPr/>
          <p:nvPr/>
        </p:nvSpPr>
        <p:spPr>
          <a:xfrm>
            <a:off x="548640" y="4572000"/>
            <a:ext cx="11064240" cy="365760"/>
          </a:xfrm>
          <a:prstGeom prst="rect">
            <a:avLst/>
          </a:prstGeom>
          <a:noFill/>
        </p:spPr>
        <p:txBody>
          <a:bodyPr wrap="square" rtlCol="0" anchor="ctr"/>
          <a:lstStyle/>
          <a:p>
            <a:pPr marL="0" indent="0" algn="ctr">
              <a:buNone/>
            </a:pPr>
            <a:r>
              <a:rPr lang="en-US" sz="1200" i="1" dirty="0">
                <a:solidFill>
                  <a:srgbClr val="666666"/>
                </a:solidFill>
                <a:latin typeface="Calibri" panose="020F0502020204030204" pitchFamily="34" charset="0"/>
                <a:ea typeface="Calibri" panose="020F0502020204030204" pitchFamily="34" charset="-122"/>
                <a:cs typeface="Calibri" panose="020F0502020204030204" pitchFamily="34" charset="-120"/>
              </a:rPr>
              <a:t>USB → keylogger → stolen credentials → unauthorized login, mapped onto the Cyber Kill Chain model.</a:t>
            </a:r>
            <a:endParaRPr lang="en-US" sz="1200" dirty="0"/>
          </a:p>
        </p:txBody>
      </p:sp>
      <p:sp>
        <p:nvSpPr>
          <p:cNvPr id="40" name="Text 38"/>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41" name="Text 39"/>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Rogue USB &amp; Keylogging</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How a planted device led to stolen passwords</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Text 3"/>
          <p:cNvSpPr/>
          <p:nvPr/>
        </p:nvSpPr>
        <p:spPr>
          <a:xfrm>
            <a:off x="548640" y="1691640"/>
            <a:ext cx="54864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Rogue USB Device</a:t>
            </a:r>
            <a:endParaRPr lang="en-US" sz="1600" dirty="0"/>
          </a:p>
        </p:txBody>
      </p:sp>
      <p:sp>
        <p:nvSpPr>
          <p:cNvPr id="6" name="Text 4"/>
          <p:cNvSpPr/>
          <p:nvPr/>
        </p:nvSpPr>
        <p:spPr>
          <a:xfrm>
            <a:off x="548640" y="2103120"/>
            <a:ext cx="5486400" cy="3657600"/>
          </a:xfrm>
          <a:prstGeom prst="rect">
            <a:avLst/>
          </a:prstGeom>
          <a:noFill/>
        </p:spPr>
        <p:txBody>
          <a:bodyPr wrap="square" rtlCol="0" anchor="t"/>
          <a:lstStyle/>
          <a:p>
            <a:pPr marL="228600" indent="-228600">
              <a:spcAft>
                <a:spcPts val="14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A USB drive deliberately planted to attack a computer once connected</a:t>
            </a:r>
            <a:endParaRPr lang="en-US" sz="1300" dirty="0"/>
          </a:p>
          <a:p>
            <a:pPr marL="228600" indent="-228600">
              <a:spcAft>
                <a:spcPts val="14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Relies on human curiosity — leaving devices where they'll be found and plugged in</a:t>
            </a:r>
            <a:endParaRPr lang="en-US" sz="1300" dirty="0"/>
          </a:p>
          <a:p>
            <a:pPr marL="228600" indent="-228600">
              <a:spcAft>
                <a:spcPts val="14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Can install malware instantly, even without a file being opened</a:t>
            </a:r>
            <a:endParaRPr lang="en-US" sz="1300" dirty="0"/>
          </a:p>
          <a:p>
            <a:pPr marL="228600" indent="-228600">
              <a:spcAft>
                <a:spcPts val="14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May bypass antivirus entirely via firmware-level attacks (BadUSB)</a:t>
            </a:r>
            <a:endParaRPr lang="en-US" sz="1300" dirty="0"/>
          </a:p>
        </p:txBody>
      </p:sp>
      <p:sp>
        <p:nvSpPr>
          <p:cNvPr id="7" name="Text 5"/>
          <p:cNvSpPr/>
          <p:nvPr/>
        </p:nvSpPr>
        <p:spPr>
          <a:xfrm>
            <a:off x="6263640" y="1691640"/>
            <a:ext cx="54864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Keylogging</a:t>
            </a:r>
            <a:endParaRPr lang="en-US" sz="1600" dirty="0"/>
          </a:p>
        </p:txBody>
      </p:sp>
      <p:sp>
        <p:nvSpPr>
          <p:cNvPr id="8" name="Text 6"/>
          <p:cNvSpPr/>
          <p:nvPr/>
        </p:nvSpPr>
        <p:spPr>
          <a:xfrm>
            <a:off x="6263640" y="2103120"/>
            <a:ext cx="5394960" cy="3657600"/>
          </a:xfrm>
          <a:prstGeom prst="rect">
            <a:avLst/>
          </a:prstGeom>
          <a:noFill/>
        </p:spPr>
        <p:txBody>
          <a:bodyPr wrap="square" rtlCol="0" anchor="t"/>
          <a:lstStyle/>
          <a:p>
            <a:pPr marL="228600" indent="-228600">
              <a:spcAft>
                <a:spcPts val="14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Malware that secretly records every keystroke, including passwords</a:t>
            </a:r>
            <a:endParaRPr lang="en-US" sz="1300" dirty="0"/>
          </a:p>
          <a:p>
            <a:pPr marL="228600" indent="-228600">
              <a:spcAft>
                <a:spcPts val="14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Explains how employee passwords were compromised without being shared</a:t>
            </a:r>
            <a:endParaRPr lang="en-US" sz="1300" dirty="0"/>
          </a:p>
          <a:p>
            <a:pPr marL="228600" indent="-228600">
              <a:spcAft>
                <a:spcPts val="14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Most likely delivered directly by the rogue USB device</a:t>
            </a:r>
            <a:endParaRPr lang="en-US" sz="1300" dirty="0"/>
          </a:p>
          <a:p>
            <a:pPr marL="228600" indent="-228600">
              <a:spcAft>
                <a:spcPts val="14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Forms the missing link between Event 1 (USB) and Event 3 (suspicious login)</a:t>
            </a:r>
            <a:endParaRPr lang="en-US" sz="1300" dirty="0"/>
          </a:p>
        </p:txBody>
      </p:sp>
      <p:sp>
        <p:nvSpPr>
          <p:cNvPr id="9" name="Shape 7"/>
          <p:cNvSpPr/>
          <p:nvPr/>
        </p:nvSpPr>
        <p:spPr>
          <a:xfrm>
            <a:off x="548640" y="5074920"/>
            <a:ext cx="11064240" cy="0"/>
          </a:xfrm>
          <a:prstGeom prst="line">
            <a:avLst/>
          </a:prstGeom>
          <a:noFill/>
          <a:ln w="12700">
            <a:solidFill>
              <a:srgbClr val="CCCCCC"/>
            </a:solidFill>
            <a:prstDash val="solid"/>
          </a:ln>
        </p:spPr>
      </p:sp>
      <p:sp>
        <p:nvSpPr>
          <p:cNvPr id="10" name="Text 8"/>
          <p:cNvSpPr/>
          <p:nvPr/>
        </p:nvSpPr>
        <p:spPr>
          <a:xfrm>
            <a:off x="548640" y="5257800"/>
            <a:ext cx="11064240" cy="548640"/>
          </a:xfrm>
          <a:prstGeom prst="rect">
            <a:avLst/>
          </a:prstGeom>
          <a:noFill/>
        </p:spPr>
        <p:txBody>
          <a:bodyPr wrap="square"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Mitigation: </a:t>
            </a: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disable unused USB ports, deploy endpoint protection, and require MFA so a captured password alone isn't enough.</a:t>
            </a:r>
            <a:endParaRPr lang="en-US" sz="1300" dirty="0"/>
          </a:p>
        </p:txBody>
      </p:sp>
      <p:sp>
        <p:nvSpPr>
          <p:cNvPr id="11" name="Text 9"/>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12" name="Text 10"/>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Fake News &amp; Social Engineering</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The NovaPay 'financial collapse' post</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Text 3"/>
          <p:cNvSpPr/>
          <p:nvPr/>
        </p:nvSpPr>
        <p:spPr>
          <a:xfrm>
            <a:off x="548640" y="1691640"/>
            <a:ext cx="64008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Key Terms</a:t>
            </a:r>
            <a:endParaRPr lang="en-US" sz="1600" dirty="0"/>
          </a:p>
        </p:txBody>
      </p:sp>
      <p:sp>
        <p:nvSpPr>
          <p:cNvPr id="6" name="Text 4"/>
          <p:cNvSpPr/>
          <p:nvPr/>
        </p:nvSpPr>
        <p:spPr>
          <a:xfrm>
            <a:off x="548640" y="2103120"/>
            <a:ext cx="6583680" cy="3657600"/>
          </a:xfrm>
          <a:prstGeom prst="rect">
            <a:avLst/>
          </a:prstGeom>
          <a:noFill/>
        </p:spPr>
        <p:txBody>
          <a:bodyPr wrap="square" rtlCol="0" anchor="t"/>
          <a:lstStyle/>
          <a:p>
            <a:pPr marL="228600" indent="-228600">
              <a:spcAft>
                <a:spcPts val="1200"/>
              </a:spcAft>
              <a:buSzPct val="100000"/>
              <a:buChar char="•"/>
            </a:pPr>
            <a:r>
              <a:rPr lang="en-US" sz="1300" b="1" dirty="0">
                <a:solidFill>
                  <a:srgbClr val="333333"/>
                </a:solidFill>
                <a:latin typeface="Calibri" panose="020F0502020204030204" pitchFamily="34" charset="0"/>
                <a:ea typeface="Calibri" panose="020F0502020204030204" pitchFamily="34" charset="-122"/>
                <a:cs typeface="Calibri" panose="020F0502020204030204" pitchFamily="34" charset="-120"/>
              </a:rPr>
              <a:t>Fake News — </a:t>
            </a:r>
            <a:endParaRPr lang="en-US" sz="1300" dirty="0"/>
          </a:p>
          <a:p>
            <a:pPr marL="228600" indent="-228600">
              <a:spcAft>
                <a:spcPts val="12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False content presented as legitimate, designed to spread and be believed.</a:t>
            </a:r>
            <a:endParaRPr lang="en-US" sz="1300" dirty="0"/>
          </a:p>
          <a:p>
            <a:pPr marL="228600" indent="-228600">
              <a:spcAft>
                <a:spcPts val="1200"/>
              </a:spcAft>
              <a:buSzPct val="100000"/>
              <a:buChar char="•"/>
            </a:pPr>
            <a:r>
              <a:rPr lang="en-US" sz="1300" b="1" dirty="0">
                <a:solidFill>
                  <a:srgbClr val="333333"/>
                </a:solidFill>
                <a:latin typeface="Calibri" panose="020F0502020204030204" pitchFamily="34" charset="0"/>
                <a:ea typeface="Calibri" panose="020F0502020204030204" pitchFamily="34" charset="-122"/>
                <a:cs typeface="Calibri" panose="020F0502020204030204" pitchFamily="34" charset="-120"/>
              </a:rPr>
              <a:t>Disinformation — </a:t>
            </a:r>
            <a:endParaRPr lang="en-US" sz="1300" dirty="0"/>
          </a:p>
          <a:p>
            <a:pPr marL="228600" indent="-228600">
              <a:spcAft>
                <a:spcPts val="12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False info spread deliberately, by someone who knows it's untrue.</a:t>
            </a:r>
            <a:endParaRPr lang="en-US" sz="1300" dirty="0"/>
          </a:p>
          <a:p>
            <a:pPr marL="228600" indent="-228600">
              <a:spcAft>
                <a:spcPts val="1200"/>
              </a:spcAft>
              <a:buSzPct val="100000"/>
              <a:buChar char="•"/>
            </a:pPr>
            <a:r>
              <a:rPr lang="en-US" sz="1300" b="1" dirty="0">
                <a:solidFill>
                  <a:srgbClr val="333333"/>
                </a:solidFill>
                <a:latin typeface="Calibri" panose="020F0502020204030204" pitchFamily="34" charset="0"/>
                <a:ea typeface="Calibri" panose="020F0502020204030204" pitchFamily="34" charset="-122"/>
                <a:cs typeface="Calibri" panose="020F0502020204030204" pitchFamily="34" charset="-120"/>
              </a:rPr>
              <a:t>Misinformation — </a:t>
            </a:r>
            <a:endParaRPr lang="en-US" sz="1300" dirty="0"/>
          </a:p>
          <a:p>
            <a:pPr marL="228600" indent="-228600">
              <a:spcAft>
                <a:spcPts val="12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False info shared by someone who genuinely believes it's true.</a:t>
            </a:r>
            <a:endParaRPr lang="en-US" sz="1300" dirty="0"/>
          </a:p>
          <a:p>
            <a:pPr marL="228600" indent="-228600">
              <a:spcAft>
                <a:spcPts val="1200"/>
              </a:spcAft>
              <a:buSzPct val="100000"/>
              <a:buChar char="•"/>
            </a:pPr>
            <a:r>
              <a:rPr lang="en-US" sz="1300" b="1" dirty="0">
                <a:solidFill>
                  <a:srgbClr val="333333"/>
                </a:solidFill>
                <a:latin typeface="Calibri" panose="020F0502020204030204" pitchFamily="34" charset="0"/>
                <a:ea typeface="Calibri" panose="020F0502020204030204" pitchFamily="34" charset="-122"/>
                <a:cs typeface="Calibri" panose="020F0502020204030204" pitchFamily="34" charset="-120"/>
              </a:rPr>
              <a:t>Social Engineering — </a:t>
            </a:r>
            <a:endParaRPr lang="en-US" sz="1300" dirty="0"/>
          </a:p>
          <a:p>
            <a:pPr marL="228600" indent="-228600">
              <a:spcAft>
                <a:spcPts val="12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Manipulating fear or urgency to trigger unsafe actions.</a:t>
            </a:r>
            <a:endParaRPr lang="en-US" sz="1300" dirty="0"/>
          </a:p>
          <a:p>
            <a:pPr marL="228600" indent="-228600">
              <a:spcAft>
                <a:spcPts val="1200"/>
              </a:spcAft>
              <a:buSzPct val="100000"/>
              <a:buChar char="•"/>
            </a:pPr>
            <a:r>
              <a:rPr lang="en-US" sz="1300" b="1" dirty="0">
                <a:solidFill>
                  <a:srgbClr val="333333"/>
                </a:solidFill>
                <a:latin typeface="Calibri" panose="020F0502020204030204" pitchFamily="34" charset="0"/>
                <a:ea typeface="Calibri" panose="020F0502020204030204" pitchFamily="34" charset="-122"/>
                <a:cs typeface="Calibri" panose="020F0502020204030204" pitchFamily="34" charset="-120"/>
              </a:rPr>
              <a:t>Reputation Attack — </a:t>
            </a:r>
            <a:endParaRPr lang="en-US" sz="1300" dirty="0"/>
          </a:p>
          <a:p>
            <a:pPr marL="228600" indent="-228600">
              <a:spcAft>
                <a:spcPts val="1200"/>
              </a:spcAft>
              <a:buSzPct val="100000"/>
              <a:buChar char="•"/>
            </a:pPr>
            <a:r>
              <a:rPr lang="en-US" sz="1300" dirty="0">
                <a:solidFill>
                  <a:srgbClr val="333333"/>
                </a:solidFill>
                <a:latin typeface="Calibri" panose="020F0502020204030204" pitchFamily="34" charset="0"/>
                <a:ea typeface="Calibri" panose="020F0502020204030204" pitchFamily="34" charset="-122"/>
                <a:cs typeface="Calibri" panose="020F0502020204030204" pitchFamily="34" charset="-120"/>
              </a:rPr>
              <a:t>False claims used deliberately to damage NovaPay's public trust.</a:t>
            </a:r>
            <a:endParaRPr lang="en-US" sz="1300" dirty="0"/>
          </a:p>
        </p:txBody>
      </p:sp>
      <p:sp>
        <p:nvSpPr>
          <p:cNvPr id="7" name="Text 5"/>
          <p:cNvSpPr/>
          <p:nvPr/>
        </p:nvSpPr>
        <p:spPr>
          <a:xfrm>
            <a:off x="7452360" y="1691640"/>
            <a:ext cx="420624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Verify Before Sharing</a:t>
            </a:r>
            <a:endParaRPr lang="en-US" sz="1600" dirty="0"/>
          </a:p>
        </p:txBody>
      </p:sp>
      <p:sp>
        <p:nvSpPr>
          <p:cNvPr id="8" name="Text 6"/>
          <p:cNvSpPr/>
          <p:nvPr/>
        </p:nvSpPr>
        <p:spPr>
          <a:xfrm>
            <a:off x="7452360" y="2103120"/>
            <a:ext cx="4023360" cy="3657600"/>
          </a:xfrm>
          <a:prstGeom prst="rect">
            <a:avLst/>
          </a:prstGeom>
          <a:noFill/>
        </p:spPr>
        <p:txBody>
          <a:bodyPr wrap="square" rtlCol="0" anchor="t"/>
          <a:lstStyle/>
          <a:p>
            <a:pPr marL="228600" indent="-228600">
              <a:spcAft>
                <a:spcPts val="1400"/>
              </a:spcAft>
              <a:buSzPct val="100000"/>
              <a:buChar char="•"/>
            </a:pPr>
            <a:r>
              <a:rPr lang="en-US" sz="1400" dirty="0">
                <a:solidFill>
                  <a:srgbClr val="333333"/>
                </a:solidFill>
                <a:latin typeface="Calibri" panose="020F0502020204030204" pitchFamily="34" charset="0"/>
                <a:ea typeface="Calibri" panose="020F0502020204030204" pitchFamily="34" charset="-122"/>
                <a:cs typeface="Calibri" panose="020F0502020204030204" pitchFamily="34" charset="-120"/>
              </a:rPr>
              <a:t>STOP</a:t>
            </a:r>
            <a:endParaRPr lang="en-US" sz="1400" dirty="0"/>
          </a:p>
          <a:p>
            <a:pPr marL="228600" indent="-228600">
              <a:spcAft>
                <a:spcPts val="1400"/>
              </a:spcAft>
              <a:buSzPct val="100000"/>
              <a:buChar char="•"/>
            </a:pPr>
            <a:r>
              <a:rPr lang="en-US" sz="1400" dirty="0">
                <a:solidFill>
                  <a:srgbClr val="333333"/>
                </a:solidFill>
                <a:latin typeface="Calibri" panose="020F0502020204030204" pitchFamily="34" charset="0"/>
                <a:ea typeface="Calibri" panose="020F0502020204030204" pitchFamily="34" charset="-122"/>
                <a:cs typeface="Calibri" panose="020F0502020204030204" pitchFamily="34" charset="-120"/>
              </a:rPr>
              <a:t>CHECK</a:t>
            </a:r>
            <a:endParaRPr lang="en-US" sz="1400" dirty="0"/>
          </a:p>
          <a:p>
            <a:pPr marL="228600" indent="-228600">
              <a:spcAft>
                <a:spcPts val="1400"/>
              </a:spcAft>
              <a:buSzPct val="100000"/>
              <a:buChar char="•"/>
            </a:pPr>
            <a:r>
              <a:rPr lang="en-US" sz="1400" dirty="0">
                <a:solidFill>
                  <a:srgbClr val="333333"/>
                </a:solidFill>
                <a:latin typeface="Calibri" panose="020F0502020204030204" pitchFamily="34" charset="0"/>
                <a:ea typeface="Calibri" panose="020F0502020204030204" pitchFamily="34" charset="-122"/>
                <a:cs typeface="Calibri" panose="020F0502020204030204" pitchFamily="34" charset="-120"/>
              </a:rPr>
              <a:t>VERIFY</a:t>
            </a:r>
            <a:endParaRPr lang="en-US" sz="1400" dirty="0"/>
          </a:p>
          <a:p>
            <a:pPr marL="228600" indent="-228600">
              <a:spcAft>
                <a:spcPts val="1400"/>
              </a:spcAft>
              <a:buSzPct val="100000"/>
              <a:buChar char="•"/>
            </a:pPr>
            <a:r>
              <a:rPr lang="en-US" sz="1400" dirty="0">
                <a:solidFill>
                  <a:srgbClr val="333333"/>
                </a:solidFill>
                <a:latin typeface="Calibri" panose="020F0502020204030204" pitchFamily="34" charset="0"/>
                <a:ea typeface="Calibri" panose="020F0502020204030204" pitchFamily="34" charset="-122"/>
                <a:cs typeface="Calibri" panose="020F0502020204030204" pitchFamily="34" charset="-120"/>
              </a:rPr>
              <a:t>CONFIRM</a:t>
            </a:r>
            <a:endParaRPr lang="en-US" sz="1400" dirty="0"/>
          </a:p>
          <a:p>
            <a:pPr marL="228600" indent="-228600">
              <a:spcAft>
                <a:spcPts val="1400"/>
              </a:spcAft>
              <a:buSzPct val="100000"/>
              <a:buChar char="•"/>
            </a:pPr>
            <a:r>
              <a:rPr lang="en-US" sz="1400" dirty="0">
                <a:solidFill>
                  <a:srgbClr val="333333"/>
                </a:solidFill>
                <a:latin typeface="Calibri" panose="020F0502020204030204" pitchFamily="34" charset="0"/>
                <a:ea typeface="Calibri" panose="020F0502020204030204" pitchFamily="34" charset="-122"/>
                <a:cs typeface="Calibri" panose="020F0502020204030204" pitchFamily="34" charset="-120"/>
              </a:rPr>
              <a:t>SHARE</a:t>
            </a:r>
            <a:endParaRPr lang="en-US" sz="1400" dirty="0"/>
          </a:p>
        </p:txBody>
      </p:sp>
      <p:sp>
        <p:nvSpPr>
          <p:cNvPr id="9" name="Text 7"/>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10" name="Text 8"/>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9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Cookies &amp; Geolocation</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Two everyday technologies behind two of our findings</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Text 3"/>
          <p:cNvSpPr/>
          <p:nvPr/>
        </p:nvSpPr>
        <p:spPr>
          <a:xfrm>
            <a:off x="548640" y="1691640"/>
            <a:ext cx="54864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Cookies</a:t>
            </a:r>
            <a:endParaRPr lang="en-US" sz="1600" dirty="0"/>
          </a:p>
        </p:txBody>
      </p:sp>
      <p:sp>
        <p:nvSpPr>
          <p:cNvPr id="6" name="Text 4"/>
          <p:cNvSpPr/>
          <p:nvPr/>
        </p:nvSpPr>
        <p:spPr>
          <a:xfrm>
            <a:off x="548640" y="2057400"/>
            <a:ext cx="5486400" cy="457200"/>
          </a:xfrm>
          <a:prstGeom prst="rect">
            <a:avLst/>
          </a:prstGeom>
          <a:noFill/>
        </p:spPr>
        <p:txBody>
          <a:bodyPr wrap="square" rtlCol="0" anchor="ctr"/>
          <a:lstStyle/>
          <a:p>
            <a:pPr marL="0" indent="0">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Small text files websites store on a device to remember logins, preferences, and activity.</a:t>
            </a:r>
            <a:endParaRPr lang="en-US" sz="1250" dirty="0"/>
          </a:p>
        </p:txBody>
      </p:sp>
      <p:sp>
        <p:nvSpPr>
          <p:cNvPr id="7" name="Text 5"/>
          <p:cNvSpPr/>
          <p:nvPr/>
        </p:nvSpPr>
        <p:spPr>
          <a:xfrm>
            <a:off x="548640" y="2606040"/>
            <a:ext cx="5486400" cy="3657600"/>
          </a:xfrm>
          <a:prstGeom prst="rect">
            <a:avLst/>
          </a:prstGeom>
          <a:noFill/>
        </p:spPr>
        <p:txBody>
          <a:bodyPr wrap="square" rtlCol="0" anchor="t"/>
          <a:lstStyle/>
          <a:p>
            <a:pPr marL="228600" indent="-228600">
              <a:spcAft>
                <a:spcPts val="200"/>
              </a:spcAft>
              <a:buSzPct val="100000"/>
              <a:buChar char="•"/>
            </a:pPr>
            <a:r>
              <a:rPr lang="en-US" sz="1250" b="1" dirty="0">
                <a:solidFill>
                  <a:srgbClr val="333333"/>
                </a:solidFill>
                <a:latin typeface="Calibri" panose="020F0502020204030204" pitchFamily="34" charset="0"/>
                <a:ea typeface="Calibri" panose="020F0502020204030204" pitchFamily="34" charset="-122"/>
                <a:cs typeface="Calibri" panose="020F0502020204030204" pitchFamily="34" charset="-120"/>
              </a:rPr>
              <a:t>Collect: </a:t>
            </a:r>
            <a:endParaRPr lang="en-US" sz="1250" dirty="0"/>
          </a:p>
          <a:p>
            <a:pPr marL="228600" indent="-228600">
              <a:spcAft>
                <a:spcPts val="2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Browsing habits and, via third-party cookies, cross-site activity</a:t>
            </a:r>
            <a:endParaRPr lang="en-US" sz="1250" dirty="0"/>
          </a:p>
          <a:p>
            <a:pPr marL="228600" indent="-228600">
              <a:spcAft>
                <a:spcPts val="200"/>
              </a:spcAft>
              <a:buSzPct val="100000"/>
              <a:buChar char="•"/>
            </a:pPr>
            <a:r>
              <a:rPr lang="en-US" sz="1250" b="1" dirty="0">
                <a:solidFill>
                  <a:srgbClr val="333333"/>
                </a:solidFill>
                <a:latin typeface="Calibri" panose="020F0502020204030204" pitchFamily="34" charset="0"/>
                <a:ea typeface="Calibri" panose="020F0502020204030204" pitchFamily="34" charset="-122"/>
                <a:cs typeface="Calibri" panose="020F0502020204030204" pitchFamily="34" charset="-120"/>
              </a:rPr>
              <a:t>Privacy risk: </a:t>
            </a:r>
            <a:endParaRPr lang="en-US" sz="1250" dirty="0"/>
          </a:p>
          <a:p>
            <a:pPr marL="228600" indent="-228600">
              <a:spcAft>
                <a:spcPts val="2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Can build a user profile across many sites without clear consent</a:t>
            </a:r>
            <a:endParaRPr lang="en-US" sz="1250" dirty="0"/>
          </a:p>
          <a:p>
            <a:pPr marL="228600" indent="-228600">
              <a:spcAft>
                <a:spcPts val="200"/>
              </a:spcAft>
              <a:buSzPct val="100000"/>
              <a:buChar char="•"/>
            </a:pPr>
            <a:r>
              <a:rPr lang="en-US" sz="1250" b="1" dirty="0">
                <a:solidFill>
                  <a:srgbClr val="333333"/>
                </a:solidFill>
                <a:latin typeface="Calibri" panose="020F0502020204030204" pitchFamily="34" charset="0"/>
                <a:ea typeface="Calibri" panose="020F0502020204030204" pitchFamily="34" charset="-122"/>
                <a:cs typeface="Calibri" panose="020F0502020204030204" pitchFamily="34" charset="-120"/>
              </a:rPr>
              <a:t>Malware? </a:t>
            </a:r>
            <a:endParaRPr lang="en-US" sz="1250" dirty="0"/>
          </a:p>
          <a:p>
            <a:pPr marL="228600" indent="-228600">
              <a:spcAft>
                <a:spcPts val="2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No — but a stolen session cookie can hijack a login without a password</a:t>
            </a:r>
            <a:endParaRPr lang="en-US" sz="1250" dirty="0"/>
          </a:p>
        </p:txBody>
      </p:sp>
      <p:sp>
        <p:nvSpPr>
          <p:cNvPr id="8" name="Text 6"/>
          <p:cNvSpPr/>
          <p:nvPr/>
        </p:nvSpPr>
        <p:spPr>
          <a:xfrm>
            <a:off x="548640" y="4937760"/>
            <a:ext cx="5486400" cy="548640"/>
          </a:xfrm>
          <a:prstGeom prst="rect">
            <a:avLst/>
          </a:prstGeom>
          <a:noFill/>
        </p:spPr>
        <p:txBody>
          <a:bodyPr wrap="square" rtlCol="0" anchor="ctr"/>
          <a:lstStyle/>
          <a:p>
            <a:pPr marL="0" indent="0">
              <a:buNone/>
            </a:pPr>
            <a:r>
              <a:rPr lang="en-US" sz="1150" i="1" dirty="0">
                <a:solidFill>
                  <a:srgbClr val="666666"/>
                </a:solidFill>
                <a:latin typeface="Calibri" panose="020F0502020204030204" pitchFamily="34" charset="0"/>
                <a:ea typeface="Calibri" panose="020F0502020204030204" pitchFamily="34" charset="-122"/>
                <a:cs typeface="Calibri" panose="020F0502020204030204" pitchFamily="34" charset="-120"/>
              </a:rPr>
              <a:t>Finding: NovaPay PCs carried heavy third-party cookie tracking — addressed via browser policy.</a:t>
            </a:r>
            <a:endParaRPr lang="en-US" sz="1150" dirty="0"/>
          </a:p>
        </p:txBody>
      </p:sp>
      <p:sp>
        <p:nvSpPr>
          <p:cNvPr id="9" name="Text 7"/>
          <p:cNvSpPr/>
          <p:nvPr/>
        </p:nvSpPr>
        <p:spPr>
          <a:xfrm>
            <a:off x="6263640" y="1691640"/>
            <a:ext cx="54864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Geolocation</a:t>
            </a:r>
            <a:endParaRPr lang="en-US" sz="1600" dirty="0"/>
          </a:p>
        </p:txBody>
      </p:sp>
      <p:sp>
        <p:nvSpPr>
          <p:cNvPr id="10" name="Text 8"/>
          <p:cNvSpPr/>
          <p:nvPr/>
        </p:nvSpPr>
        <p:spPr>
          <a:xfrm>
            <a:off x="6263640" y="2057400"/>
            <a:ext cx="5394960" cy="457200"/>
          </a:xfrm>
          <a:prstGeom prst="rect">
            <a:avLst/>
          </a:prstGeom>
          <a:noFill/>
        </p:spPr>
        <p:txBody>
          <a:bodyPr wrap="square" rtlCol="0" anchor="ctr"/>
          <a:lstStyle/>
          <a:p>
            <a:pPr marL="0" indent="0">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Identifying a device's real-world location using IP address, GPS, or Wi-Fi network data.</a:t>
            </a:r>
            <a:endParaRPr lang="en-US" sz="1250" dirty="0"/>
          </a:p>
        </p:txBody>
      </p:sp>
      <p:sp>
        <p:nvSpPr>
          <p:cNvPr id="11" name="Text 9"/>
          <p:cNvSpPr/>
          <p:nvPr/>
        </p:nvSpPr>
        <p:spPr>
          <a:xfrm>
            <a:off x="6263640" y="2606040"/>
            <a:ext cx="5394960" cy="3657600"/>
          </a:xfrm>
          <a:prstGeom prst="rect">
            <a:avLst/>
          </a:prstGeom>
          <a:noFill/>
        </p:spPr>
        <p:txBody>
          <a:bodyPr wrap="square" rtlCol="0" anchor="t"/>
          <a:lstStyle/>
          <a:p>
            <a:pPr marL="228600" indent="-228600">
              <a:spcAft>
                <a:spcPts val="200"/>
              </a:spcAft>
              <a:buSzPct val="100000"/>
              <a:buChar char="•"/>
            </a:pPr>
            <a:r>
              <a:rPr lang="en-US" sz="1250" b="1" dirty="0">
                <a:solidFill>
                  <a:srgbClr val="333333"/>
                </a:solidFill>
                <a:latin typeface="Calibri" panose="020F0502020204030204" pitchFamily="34" charset="0"/>
                <a:ea typeface="Calibri" panose="020F0502020204030204" pitchFamily="34" charset="-122"/>
                <a:cs typeface="Calibri" panose="020F0502020204030204" pitchFamily="34" charset="-120"/>
              </a:rPr>
              <a:t>Why it matters: </a:t>
            </a:r>
            <a:endParaRPr lang="en-US" sz="1250" dirty="0"/>
          </a:p>
          <a:p>
            <a:pPr marL="228600" indent="-228600">
              <a:spcAft>
                <a:spcPts val="2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It's how we noticed the suspicious login came from an unusual location</a:t>
            </a:r>
            <a:endParaRPr lang="en-US" sz="1250" dirty="0"/>
          </a:p>
          <a:p>
            <a:pPr marL="228600" indent="-228600">
              <a:spcAft>
                <a:spcPts val="200"/>
              </a:spcAft>
              <a:buSzPct val="100000"/>
              <a:buChar char="•"/>
            </a:pPr>
            <a:r>
              <a:rPr lang="en-US" sz="1250" b="1" dirty="0">
                <a:solidFill>
                  <a:srgbClr val="333333"/>
                </a:solidFill>
                <a:latin typeface="Calibri" panose="020F0502020204030204" pitchFamily="34" charset="0"/>
                <a:ea typeface="Calibri" panose="020F0502020204030204" pitchFamily="34" charset="-122"/>
                <a:cs typeface="Calibri" panose="020F0502020204030204" pitchFamily="34" charset="-120"/>
              </a:rPr>
              <a:t>Best use: </a:t>
            </a:r>
            <a:endParaRPr lang="en-US" sz="1250" dirty="0"/>
          </a:p>
          <a:p>
            <a:pPr marL="228600" indent="-228600">
              <a:spcAft>
                <a:spcPts val="2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Comparing logins against an employee's normal pattern flags compromise fast</a:t>
            </a:r>
            <a:endParaRPr lang="en-US" sz="1250" dirty="0"/>
          </a:p>
          <a:p>
            <a:pPr marL="228600" indent="-228600">
              <a:spcAft>
                <a:spcPts val="200"/>
              </a:spcAft>
              <a:buSzPct val="100000"/>
              <a:buChar char="•"/>
            </a:pPr>
            <a:r>
              <a:rPr lang="en-US" sz="1250" b="1" dirty="0">
                <a:solidFill>
                  <a:srgbClr val="333333"/>
                </a:solidFill>
                <a:latin typeface="Calibri" panose="020F0502020204030204" pitchFamily="34" charset="0"/>
                <a:ea typeface="Calibri" panose="020F0502020204030204" pitchFamily="34" charset="-122"/>
                <a:cs typeface="Calibri" panose="020F0502020204030204" pitchFamily="34" charset="-120"/>
              </a:rPr>
              <a:t>Next step: </a:t>
            </a:r>
            <a:endParaRPr lang="en-US" sz="1250" dirty="0"/>
          </a:p>
          <a:p>
            <a:pPr marL="228600" indent="-228600">
              <a:spcAft>
                <a:spcPts val="2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Automate this comparison instead of relying on chance discovery</a:t>
            </a:r>
            <a:endParaRPr lang="en-US" sz="1250" dirty="0"/>
          </a:p>
        </p:txBody>
      </p:sp>
      <p:sp>
        <p:nvSpPr>
          <p:cNvPr id="12" name="Text 10"/>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13" name="Text 11"/>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8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Dark Web &amp; Credential Exposure</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credentials were found in a leaked database</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Text 3"/>
          <p:cNvSpPr/>
          <p:nvPr/>
        </p:nvSpPr>
        <p:spPr>
          <a:xfrm>
            <a:off x="548640" y="1691640"/>
            <a:ext cx="100584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Surface Web, Deep Web, Dark Web</a:t>
            </a:r>
            <a:endParaRPr lang="en-US" sz="1600" dirty="0"/>
          </a:p>
        </p:txBody>
      </p:sp>
      <p:sp>
        <p:nvSpPr>
          <p:cNvPr id="6" name="Text 4"/>
          <p:cNvSpPr/>
          <p:nvPr/>
        </p:nvSpPr>
        <p:spPr>
          <a:xfrm>
            <a:off x="548640" y="2103120"/>
            <a:ext cx="11064240" cy="3657600"/>
          </a:xfrm>
          <a:prstGeom prst="rect">
            <a:avLst/>
          </a:prstGeom>
          <a:noFill/>
        </p:spPr>
        <p:txBody>
          <a:bodyPr wrap="square" rtlCol="0" anchor="t"/>
          <a:lstStyle/>
          <a:p>
            <a:pPr marL="228600" indent="-228600">
              <a:spcAft>
                <a:spcPts val="800"/>
              </a:spcAft>
              <a:buSzPct val="100000"/>
              <a:buChar char="•"/>
            </a:pPr>
            <a:r>
              <a:rPr lang="en-US" sz="1350" b="1" dirty="0">
                <a:solidFill>
                  <a:srgbClr val="333333"/>
                </a:solidFill>
                <a:latin typeface="Calibri" panose="020F0502020204030204" pitchFamily="34" charset="0"/>
                <a:ea typeface="Calibri" panose="020F0502020204030204" pitchFamily="34" charset="-122"/>
                <a:cs typeface="Calibri" panose="020F0502020204030204" pitchFamily="34" charset="-120"/>
              </a:rPr>
              <a:t>Surface Web — </a:t>
            </a:r>
            <a:endParaRPr lang="en-US" sz="1350" dirty="0"/>
          </a:p>
          <a:p>
            <a:pPr marL="228600" indent="-228600">
              <a:spcAft>
                <a:spcPts val="800"/>
              </a:spcAft>
              <a:buSzPct val="100000"/>
              <a:buChar char="•"/>
            </a:pPr>
            <a:r>
              <a:rPr lang="en-US" sz="1350" dirty="0">
                <a:solidFill>
                  <a:srgbClr val="333333"/>
                </a:solidFill>
                <a:latin typeface="Calibri" panose="020F0502020204030204" pitchFamily="34" charset="0"/>
                <a:ea typeface="Calibri" panose="020F0502020204030204" pitchFamily="34" charset="-122"/>
                <a:cs typeface="Calibri" panose="020F0502020204030204" pitchFamily="34" charset="-120"/>
              </a:rPr>
              <a:t>Indexed by search engines; the small part everyone uses directly.</a:t>
            </a:r>
            <a:endParaRPr lang="en-US" sz="1350" dirty="0"/>
          </a:p>
          <a:p>
            <a:pPr marL="228600" indent="-228600">
              <a:spcAft>
                <a:spcPts val="800"/>
              </a:spcAft>
              <a:buSzPct val="100000"/>
              <a:buChar char="•"/>
            </a:pPr>
            <a:r>
              <a:rPr lang="en-US" sz="1350" b="1" dirty="0">
                <a:solidFill>
                  <a:srgbClr val="333333"/>
                </a:solidFill>
                <a:latin typeface="Calibri" panose="020F0502020204030204" pitchFamily="34" charset="0"/>
                <a:ea typeface="Calibri" panose="020F0502020204030204" pitchFamily="34" charset="-122"/>
                <a:cs typeface="Calibri" panose="020F0502020204030204" pitchFamily="34" charset="-120"/>
              </a:rPr>
              <a:t>Deep Web — </a:t>
            </a:r>
            <a:endParaRPr lang="en-US" sz="1350" dirty="0"/>
          </a:p>
          <a:p>
            <a:pPr marL="228600" indent="-228600">
              <a:spcAft>
                <a:spcPts val="800"/>
              </a:spcAft>
              <a:buSzPct val="100000"/>
              <a:buChar char="•"/>
            </a:pPr>
            <a:r>
              <a:rPr lang="en-US" sz="1350" dirty="0">
                <a:solidFill>
                  <a:srgbClr val="333333"/>
                </a:solidFill>
                <a:latin typeface="Calibri" panose="020F0502020204030204" pitchFamily="34" charset="0"/>
                <a:ea typeface="Calibri" panose="020F0502020204030204" pitchFamily="34" charset="-122"/>
                <a:cs typeface="Calibri" panose="020F0502020204030204" pitchFamily="34" charset="-120"/>
              </a:rPr>
              <a:t>Not indexed, but normal and legal — email, banking, internal systems.</a:t>
            </a:r>
            <a:endParaRPr lang="en-US" sz="1350" dirty="0"/>
          </a:p>
          <a:p>
            <a:pPr marL="228600" indent="-228600">
              <a:spcAft>
                <a:spcPts val="800"/>
              </a:spcAft>
              <a:buSzPct val="100000"/>
              <a:buChar char="•"/>
            </a:pPr>
            <a:r>
              <a:rPr lang="en-US" sz="1350" b="1" dirty="0">
                <a:solidFill>
                  <a:srgbClr val="333333"/>
                </a:solidFill>
                <a:latin typeface="Calibri" panose="020F0502020204030204" pitchFamily="34" charset="0"/>
                <a:ea typeface="Calibri" panose="020F0502020204030204" pitchFamily="34" charset="-122"/>
                <a:cs typeface="Calibri" panose="020F0502020204030204" pitchFamily="34" charset="-120"/>
              </a:rPr>
              <a:t>Dark Web — </a:t>
            </a:r>
            <a:endParaRPr lang="en-US" sz="1350" dirty="0"/>
          </a:p>
          <a:p>
            <a:pPr marL="228600" indent="-228600">
              <a:spcAft>
                <a:spcPts val="800"/>
              </a:spcAft>
              <a:buSzPct val="100000"/>
              <a:buChar char="•"/>
            </a:pPr>
            <a:r>
              <a:rPr lang="en-US" sz="1350" dirty="0">
                <a:solidFill>
                  <a:srgbClr val="333333"/>
                </a:solidFill>
                <a:latin typeface="Calibri" panose="020F0502020204030204" pitchFamily="34" charset="0"/>
                <a:ea typeface="Calibri" panose="020F0502020204030204" pitchFamily="34" charset="-122"/>
                <a:cs typeface="Calibri" panose="020F0502020204030204" pitchFamily="34" charset="-120"/>
              </a:rPr>
              <a:t>Hidden, accessed via Tor, which anonymizes traffic through encrypted relays.</a:t>
            </a:r>
            <a:endParaRPr lang="en-US" sz="1350" dirty="0"/>
          </a:p>
        </p:txBody>
      </p:sp>
      <p:sp>
        <p:nvSpPr>
          <p:cNvPr id="7" name="Text 5"/>
          <p:cNvSpPr/>
          <p:nvPr/>
        </p:nvSpPr>
        <p:spPr>
          <a:xfrm>
            <a:off x="548640" y="3749040"/>
            <a:ext cx="100584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NovaPay's Response Checklist (Event 6)</a:t>
            </a:r>
            <a:endParaRPr lang="en-US" sz="1600" dirty="0"/>
          </a:p>
        </p:txBody>
      </p:sp>
      <p:sp>
        <p:nvSpPr>
          <p:cNvPr id="8" name="Text 6"/>
          <p:cNvSpPr/>
          <p:nvPr/>
        </p:nvSpPr>
        <p:spPr>
          <a:xfrm>
            <a:off x="548640" y="4160520"/>
            <a:ext cx="5394960" cy="3657600"/>
          </a:xfrm>
          <a:prstGeom prst="rect">
            <a:avLst/>
          </a:prstGeom>
          <a:noFill/>
        </p:spPr>
        <p:txBody>
          <a:bodyPr wrap="square" rtlCol="0" anchor="t"/>
          <a:lstStyle/>
          <a:p>
            <a:pPr marL="228600" indent="-228600">
              <a:spcAft>
                <a:spcPts val="10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Force immediate password resets for affected accounts</a:t>
            </a:r>
            <a:endParaRPr lang="en-US" sz="1250" dirty="0"/>
          </a:p>
          <a:p>
            <a:pPr marL="228600" indent="-228600">
              <a:spcAft>
                <a:spcPts val="10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Check for and reset reused passwords elsewhere</a:t>
            </a:r>
            <a:endParaRPr lang="en-US" sz="1250" dirty="0"/>
          </a:p>
          <a:p>
            <a:pPr marL="228600" indent="-228600">
              <a:spcAft>
                <a:spcPts val="10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Enable Multi-Factor Authentication everywhere</a:t>
            </a:r>
            <a:endParaRPr lang="en-US" sz="1250" dirty="0"/>
          </a:p>
        </p:txBody>
      </p:sp>
      <p:sp>
        <p:nvSpPr>
          <p:cNvPr id="9" name="Text 7"/>
          <p:cNvSpPr/>
          <p:nvPr/>
        </p:nvSpPr>
        <p:spPr>
          <a:xfrm>
            <a:off x="6126480" y="4160520"/>
            <a:ext cx="5394960" cy="3657600"/>
          </a:xfrm>
          <a:prstGeom prst="rect">
            <a:avLst/>
          </a:prstGeom>
          <a:noFill/>
        </p:spPr>
        <p:txBody>
          <a:bodyPr wrap="square" rtlCol="0" anchor="t"/>
          <a:lstStyle/>
          <a:p>
            <a:pPr marL="228600" indent="-228600">
              <a:spcAft>
                <a:spcPts val="10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Review login activity for suspicious access</a:t>
            </a:r>
            <a:endParaRPr lang="en-US" sz="1250" dirty="0"/>
          </a:p>
          <a:p>
            <a:pPr marL="228600" indent="-228600">
              <a:spcAft>
                <a:spcPts val="10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Notify affected employees directly</a:t>
            </a:r>
            <a:endParaRPr lang="en-US" sz="1250" dirty="0"/>
          </a:p>
          <a:p>
            <a:pPr marL="228600" indent="-228600">
              <a:spcAft>
                <a:spcPts val="10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Adopt ongoing breach-monitoring</a:t>
            </a:r>
            <a:endParaRPr lang="en-US" sz="1250" dirty="0"/>
          </a:p>
        </p:txBody>
      </p:sp>
      <p:sp>
        <p:nvSpPr>
          <p:cNvPr id="10" name="Text 8"/>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11" name="Text 9"/>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Virtual Card Numbers</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Reducing NovaPay's exposure on online purchases</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Text 3"/>
          <p:cNvSpPr/>
          <p:nvPr/>
        </p:nvSpPr>
        <p:spPr>
          <a:xfrm>
            <a:off x="548640" y="1691640"/>
            <a:ext cx="11064240" cy="411480"/>
          </a:xfrm>
          <a:prstGeom prst="rect">
            <a:avLst/>
          </a:prstGeom>
          <a:noFill/>
        </p:spPr>
        <p:txBody>
          <a:bodyPr wrap="square" rtlCol="0" anchor="ctr"/>
          <a:lstStyle/>
          <a:p>
            <a:pPr marL="0" indent="0">
              <a:buNone/>
            </a:pPr>
            <a:r>
              <a:rPr lang="en-US" sz="1350" dirty="0">
                <a:solidFill>
                  <a:srgbClr val="333333"/>
                </a:solidFill>
                <a:latin typeface="Calibri" panose="020F0502020204030204" pitchFamily="34" charset="0"/>
                <a:ea typeface="Calibri" panose="020F0502020204030204" pitchFamily="34" charset="-122"/>
                <a:cs typeface="Calibri" panose="020F0502020204030204" pitchFamily="34" charset="-120"/>
              </a:rPr>
              <a:t>A temporary, randomly generated number linked to a real card — used for payment while the real card number stays hidden.</a:t>
            </a:r>
            <a:endParaRPr lang="en-US" sz="1350" dirty="0"/>
          </a:p>
        </p:txBody>
      </p:sp>
      <p:sp>
        <p:nvSpPr>
          <p:cNvPr id="6" name="Text 4"/>
          <p:cNvSpPr/>
          <p:nvPr/>
        </p:nvSpPr>
        <p:spPr>
          <a:xfrm>
            <a:off x="548640" y="2286000"/>
            <a:ext cx="54864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Key Features</a:t>
            </a:r>
            <a:endParaRPr lang="en-US" sz="1600" dirty="0"/>
          </a:p>
        </p:txBody>
      </p:sp>
      <p:sp>
        <p:nvSpPr>
          <p:cNvPr id="7" name="Text 5"/>
          <p:cNvSpPr/>
          <p:nvPr/>
        </p:nvSpPr>
        <p:spPr>
          <a:xfrm>
            <a:off x="548640" y="2697480"/>
            <a:ext cx="5486400" cy="3657600"/>
          </a:xfrm>
          <a:prstGeom prst="rect">
            <a:avLst/>
          </a:prstGeom>
          <a:noFill/>
        </p:spPr>
        <p:txBody>
          <a:bodyPr wrap="square" rtlCol="0" anchor="t"/>
          <a:lstStyle/>
          <a:p>
            <a:pPr marL="228600" indent="-228600">
              <a:spcAft>
                <a:spcPts val="1000"/>
              </a:spcAft>
              <a:buSzPct val="100000"/>
              <a:buChar char="•"/>
            </a:pPr>
            <a:r>
              <a:rPr lang="en-US" sz="1250" b="1" dirty="0">
                <a:solidFill>
                  <a:srgbClr val="333333"/>
                </a:solidFill>
                <a:latin typeface="Calibri" panose="020F0502020204030204" pitchFamily="34" charset="0"/>
                <a:ea typeface="Calibri" panose="020F0502020204030204" pitchFamily="34" charset="-122"/>
                <a:cs typeface="Calibri" panose="020F0502020204030204" pitchFamily="34" charset="-120"/>
              </a:rPr>
              <a:t>Single-use — </a:t>
            </a:r>
            <a:endParaRPr lang="en-US" sz="1250" dirty="0"/>
          </a:p>
          <a:p>
            <a:pPr marL="228600" indent="-228600">
              <a:spcAft>
                <a:spcPts val="10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Valid for exactly one transaction, then automatically invalid.</a:t>
            </a:r>
            <a:endParaRPr lang="en-US" sz="1250" dirty="0"/>
          </a:p>
          <a:p>
            <a:pPr marL="228600" indent="-228600">
              <a:spcAft>
                <a:spcPts val="1000"/>
              </a:spcAft>
              <a:buSzPct val="100000"/>
              <a:buChar char="•"/>
            </a:pPr>
            <a:r>
              <a:rPr lang="en-US" sz="1250" b="1" dirty="0">
                <a:solidFill>
                  <a:srgbClr val="333333"/>
                </a:solidFill>
                <a:latin typeface="Calibri" panose="020F0502020204030204" pitchFamily="34" charset="0"/>
                <a:ea typeface="Calibri" panose="020F0502020204030204" pitchFamily="34" charset="-122"/>
                <a:cs typeface="Calibri" panose="020F0502020204030204" pitchFamily="34" charset="-120"/>
              </a:rPr>
              <a:t>Merchant-specific — </a:t>
            </a:r>
            <a:endParaRPr lang="en-US" sz="1250" dirty="0"/>
          </a:p>
          <a:p>
            <a:pPr marL="228600" indent="-228600">
              <a:spcAft>
                <a:spcPts val="10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Works only with one specific vendor; useless if stolen elsewhere.</a:t>
            </a:r>
            <a:endParaRPr lang="en-US" sz="1250" dirty="0"/>
          </a:p>
          <a:p>
            <a:pPr marL="228600" indent="-228600">
              <a:spcAft>
                <a:spcPts val="1000"/>
              </a:spcAft>
              <a:buSzPct val="100000"/>
              <a:buChar char="•"/>
            </a:pPr>
            <a:r>
              <a:rPr lang="en-US" sz="1250" b="1" dirty="0">
                <a:solidFill>
                  <a:srgbClr val="333333"/>
                </a:solidFill>
                <a:latin typeface="Calibri" panose="020F0502020204030204" pitchFamily="34" charset="0"/>
                <a:ea typeface="Calibri" panose="020F0502020204030204" pitchFamily="34" charset="-122"/>
                <a:cs typeface="Calibri" panose="020F0502020204030204" pitchFamily="34" charset="-120"/>
              </a:rPr>
              <a:t>Spending limits — </a:t>
            </a:r>
            <a:endParaRPr lang="en-US" sz="1250" dirty="0"/>
          </a:p>
          <a:p>
            <a:pPr marL="228600" indent="-228600">
              <a:spcAft>
                <a:spcPts val="10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Caps how much can be charged, even if the number is compromised.</a:t>
            </a:r>
            <a:endParaRPr lang="en-US" sz="1250" dirty="0"/>
          </a:p>
          <a:p>
            <a:pPr marL="228600" indent="-228600">
              <a:spcAft>
                <a:spcPts val="1000"/>
              </a:spcAft>
              <a:buSzPct val="100000"/>
              <a:buChar char="•"/>
            </a:pPr>
            <a:r>
              <a:rPr lang="en-US" sz="1250" b="1" dirty="0">
                <a:solidFill>
                  <a:srgbClr val="333333"/>
                </a:solidFill>
                <a:latin typeface="Calibri" panose="020F0502020204030204" pitchFamily="34" charset="0"/>
                <a:ea typeface="Calibri" panose="020F0502020204030204" pitchFamily="34" charset="-122"/>
                <a:cs typeface="Calibri" panose="020F0502020204030204" pitchFamily="34" charset="-120"/>
              </a:rPr>
              <a:t>Expiry controls — </a:t>
            </a:r>
            <a:endParaRPr lang="en-US" sz="1250" dirty="0"/>
          </a:p>
          <a:p>
            <a:pPr marL="228600" indent="-228600">
              <a:spcAft>
                <a:spcPts val="1000"/>
              </a:spcAft>
              <a:buSzPct val="100000"/>
              <a:buChar char="•"/>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Automatically stops working after a set date.</a:t>
            </a:r>
            <a:endParaRPr lang="en-US" sz="1250" dirty="0"/>
          </a:p>
        </p:txBody>
      </p:sp>
      <p:sp>
        <p:nvSpPr>
          <p:cNvPr id="8" name="Text 6"/>
          <p:cNvSpPr/>
          <p:nvPr/>
        </p:nvSpPr>
        <p:spPr>
          <a:xfrm>
            <a:off x="6263640" y="2286000"/>
            <a:ext cx="54864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Benefits for NovaPay</a:t>
            </a:r>
            <a:endParaRPr lang="en-US" sz="1600" dirty="0"/>
          </a:p>
        </p:txBody>
      </p:sp>
      <p:sp>
        <p:nvSpPr>
          <p:cNvPr id="9" name="Text 7"/>
          <p:cNvSpPr/>
          <p:nvPr/>
        </p:nvSpPr>
        <p:spPr>
          <a:xfrm>
            <a:off x="6263640" y="2697480"/>
            <a:ext cx="5394960" cy="822960"/>
          </a:xfrm>
          <a:prstGeom prst="rect">
            <a:avLst/>
          </a:prstGeom>
          <a:noFill/>
        </p:spPr>
        <p:txBody>
          <a:bodyPr wrap="square" rtlCol="0" anchor="ctr"/>
          <a:lstStyle/>
          <a:p>
            <a:pPr marL="0" indent="0">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Protects the real company card; caps financial damage; makes vendor charges easy to trace; individual cards can be cancelled without disrupting others.</a:t>
            </a:r>
            <a:endParaRPr lang="en-US" sz="1250" dirty="0"/>
          </a:p>
        </p:txBody>
      </p:sp>
      <p:sp>
        <p:nvSpPr>
          <p:cNvPr id="10" name="Text 8"/>
          <p:cNvSpPr/>
          <p:nvPr/>
        </p:nvSpPr>
        <p:spPr>
          <a:xfrm>
            <a:off x="6263640" y="3657600"/>
            <a:ext cx="548640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Limitations</a:t>
            </a:r>
            <a:endParaRPr lang="en-US" sz="1600" dirty="0"/>
          </a:p>
        </p:txBody>
      </p:sp>
      <p:sp>
        <p:nvSpPr>
          <p:cNvPr id="11" name="Text 9"/>
          <p:cNvSpPr/>
          <p:nvPr/>
        </p:nvSpPr>
        <p:spPr>
          <a:xfrm>
            <a:off x="6263640" y="4069080"/>
            <a:ext cx="5394960" cy="914400"/>
          </a:xfrm>
          <a:prstGeom prst="rect">
            <a:avLst/>
          </a:prstGeom>
          <a:noFill/>
        </p:spPr>
        <p:txBody>
          <a:bodyPr wrap="square" rtlCol="0" anchor="ctr"/>
          <a:lstStyle/>
          <a:p>
            <a:pPr marL="0" indent="0">
              <a:buNone/>
            </a:pPr>
            <a:r>
              <a:rPr lang="en-US" sz="1250" dirty="0">
                <a:solidFill>
                  <a:srgbClr val="333333"/>
                </a:solidFill>
                <a:latin typeface="Calibri" panose="020F0502020204030204" pitchFamily="34" charset="0"/>
                <a:ea typeface="Calibri" panose="020F0502020204030204" pitchFamily="34" charset="-122"/>
                <a:cs typeface="Calibri" panose="020F0502020204030204" pitchFamily="34" charset="-120"/>
              </a:rPr>
              <a:t>Online use only; still relies on a real account behind it; not every merchant accepts them; doesn't stop social engineering scams; needs active management.</a:t>
            </a:r>
            <a:endParaRPr lang="en-US" sz="1250" dirty="0"/>
          </a:p>
        </p:txBody>
      </p:sp>
      <p:sp>
        <p:nvSpPr>
          <p:cNvPr id="12" name="Text 10"/>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13" name="Text 11"/>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Information Security — The CIA Triad</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The three principles every recommendation protects</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Shape 3"/>
          <p:cNvSpPr/>
          <p:nvPr/>
        </p:nvSpPr>
        <p:spPr>
          <a:xfrm>
            <a:off x="548640" y="1737360"/>
            <a:ext cx="3611880" cy="4206240"/>
          </a:xfrm>
          <a:prstGeom prst="rect">
            <a:avLst/>
          </a:prstGeom>
          <a:solidFill>
            <a:srgbClr val="FFFFFF"/>
          </a:solidFill>
          <a:ln w="12700">
            <a:solidFill>
              <a:srgbClr val="CCCCCC"/>
            </a:solidFill>
            <a:prstDash val="solid"/>
          </a:ln>
        </p:spPr>
      </p:sp>
      <p:sp>
        <p:nvSpPr>
          <p:cNvPr id="6" name="Text 4"/>
          <p:cNvSpPr/>
          <p:nvPr/>
        </p:nvSpPr>
        <p:spPr>
          <a:xfrm>
            <a:off x="777240" y="1920240"/>
            <a:ext cx="3154680" cy="36576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Confidentiality</a:t>
            </a:r>
            <a:endParaRPr lang="en-US" sz="1500" dirty="0"/>
          </a:p>
        </p:txBody>
      </p:sp>
      <p:sp>
        <p:nvSpPr>
          <p:cNvPr id="7" name="Text 5"/>
          <p:cNvSpPr/>
          <p:nvPr/>
        </p:nvSpPr>
        <p:spPr>
          <a:xfrm>
            <a:off x="777240" y="2331720"/>
            <a:ext cx="3154680" cy="685800"/>
          </a:xfrm>
          <a:prstGeom prst="rect">
            <a:avLst/>
          </a:prstGeom>
          <a:noFill/>
        </p:spPr>
        <p:txBody>
          <a:bodyPr wrap="square" rtlCol="0" anchor="ctr"/>
          <a:lstStyle/>
          <a:p>
            <a:pPr marL="0" indent="0">
              <a:buNone/>
            </a:pPr>
            <a:r>
              <a:rPr lang="en-US" sz="1200" dirty="0">
                <a:solidFill>
                  <a:srgbClr val="333333"/>
                </a:solidFill>
                <a:latin typeface="Calibri" panose="020F0502020204030204" pitchFamily="34" charset="0"/>
                <a:ea typeface="Calibri" panose="020F0502020204030204" pitchFamily="34" charset="-122"/>
                <a:cs typeface="Calibri" panose="020F0502020204030204" pitchFamily="34" charset="-120"/>
              </a:rPr>
              <a:t>Protecting info from unauthorized access.</a:t>
            </a:r>
            <a:endParaRPr lang="en-US" sz="1200" dirty="0"/>
          </a:p>
        </p:txBody>
      </p:sp>
      <p:sp>
        <p:nvSpPr>
          <p:cNvPr id="8" name="Shape 6"/>
          <p:cNvSpPr/>
          <p:nvPr/>
        </p:nvSpPr>
        <p:spPr>
          <a:xfrm>
            <a:off x="777240" y="3154680"/>
            <a:ext cx="3154680" cy="0"/>
          </a:xfrm>
          <a:prstGeom prst="line">
            <a:avLst/>
          </a:prstGeom>
          <a:noFill/>
          <a:ln w="12700">
            <a:solidFill>
              <a:srgbClr val="CCCCCC"/>
            </a:solidFill>
            <a:prstDash val="solid"/>
          </a:ln>
        </p:spPr>
      </p:sp>
      <p:sp>
        <p:nvSpPr>
          <p:cNvPr id="9" name="Text 7"/>
          <p:cNvSpPr/>
          <p:nvPr/>
        </p:nvSpPr>
        <p:spPr>
          <a:xfrm>
            <a:off x="777240" y="3291840"/>
            <a:ext cx="3154680" cy="274320"/>
          </a:xfrm>
          <a:prstGeom prst="rect">
            <a:avLst/>
          </a:prstGeom>
          <a:noFill/>
        </p:spPr>
        <p:txBody>
          <a:bodyPr wrap="square" rtlCol="0" anchor="ctr"/>
          <a:lstStyle/>
          <a:p>
            <a:pPr marL="0" indent="0">
              <a:buNone/>
            </a:pPr>
            <a:r>
              <a:rPr lang="en-US" sz="1050" b="1" dirty="0">
                <a:solidFill>
                  <a:srgbClr val="1E2761"/>
                </a:solidFill>
                <a:latin typeface="Calibri" panose="020F0502020204030204" pitchFamily="34" charset="0"/>
                <a:ea typeface="Calibri" panose="020F0502020204030204" pitchFamily="34" charset="-122"/>
                <a:cs typeface="Calibri" panose="020F0502020204030204" pitchFamily="34" charset="-120"/>
              </a:rPr>
              <a:t>NovaPay example:</a:t>
            </a:r>
            <a:endParaRPr lang="en-US" sz="1050" dirty="0"/>
          </a:p>
        </p:txBody>
      </p:sp>
      <p:sp>
        <p:nvSpPr>
          <p:cNvPr id="10" name="Text 8"/>
          <p:cNvSpPr/>
          <p:nvPr/>
        </p:nvSpPr>
        <p:spPr>
          <a:xfrm>
            <a:off x="777240" y="3566160"/>
            <a:ext cx="3154680" cy="1097280"/>
          </a:xfrm>
          <a:prstGeom prst="rect">
            <a:avLst/>
          </a:prstGeom>
          <a:noFill/>
        </p:spPr>
        <p:txBody>
          <a:bodyPr wrap="square" rtlCol="0" anchor="ctr"/>
          <a:lstStyle/>
          <a:p>
            <a:pPr marL="0" indent="0">
              <a:buNone/>
            </a:pPr>
            <a:r>
              <a:rPr lang="en-US" sz="1100" dirty="0">
                <a:solidFill>
                  <a:srgbClr val="666666"/>
                </a:solidFill>
                <a:latin typeface="Calibri" panose="020F0502020204030204" pitchFamily="34" charset="0"/>
                <a:ea typeface="Calibri" panose="020F0502020204030204" pitchFamily="34" charset="-122"/>
                <a:cs typeface="Calibri" panose="020F0502020204030204" pitchFamily="34" charset="-120"/>
              </a:rPr>
              <a:t>Leaked credentials; keylogged passwords</a:t>
            </a:r>
            <a:endParaRPr lang="en-US" sz="1100" dirty="0"/>
          </a:p>
        </p:txBody>
      </p:sp>
      <p:sp>
        <p:nvSpPr>
          <p:cNvPr id="11" name="Shape 9"/>
          <p:cNvSpPr/>
          <p:nvPr/>
        </p:nvSpPr>
        <p:spPr>
          <a:xfrm>
            <a:off x="4343400" y="1737360"/>
            <a:ext cx="3611880" cy="4206240"/>
          </a:xfrm>
          <a:prstGeom prst="rect">
            <a:avLst/>
          </a:prstGeom>
          <a:solidFill>
            <a:srgbClr val="FFFFFF"/>
          </a:solidFill>
          <a:ln w="12700">
            <a:solidFill>
              <a:srgbClr val="CCCCCC"/>
            </a:solidFill>
            <a:prstDash val="solid"/>
          </a:ln>
        </p:spPr>
      </p:sp>
      <p:sp>
        <p:nvSpPr>
          <p:cNvPr id="12" name="Text 10"/>
          <p:cNvSpPr/>
          <p:nvPr/>
        </p:nvSpPr>
        <p:spPr>
          <a:xfrm>
            <a:off x="4572000" y="1920240"/>
            <a:ext cx="3154680" cy="36576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Integrity</a:t>
            </a:r>
            <a:endParaRPr lang="en-US" sz="1500" dirty="0"/>
          </a:p>
        </p:txBody>
      </p:sp>
      <p:sp>
        <p:nvSpPr>
          <p:cNvPr id="13" name="Text 11"/>
          <p:cNvSpPr/>
          <p:nvPr/>
        </p:nvSpPr>
        <p:spPr>
          <a:xfrm>
            <a:off x="4572000" y="2331720"/>
            <a:ext cx="3154680" cy="685800"/>
          </a:xfrm>
          <a:prstGeom prst="rect">
            <a:avLst/>
          </a:prstGeom>
          <a:noFill/>
        </p:spPr>
        <p:txBody>
          <a:bodyPr wrap="square" rtlCol="0" anchor="ctr"/>
          <a:lstStyle/>
          <a:p>
            <a:pPr marL="0" indent="0">
              <a:buNone/>
            </a:pPr>
            <a:r>
              <a:rPr lang="en-US" sz="1200" dirty="0">
                <a:solidFill>
                  <a:srgbClr val="333333"/>
                </a:solidFill>
                <a:latin typeface="Calibri" panose="020F0502020204030204" pitchFamily="34" charset="0"/>
                <a:ea typeface="Calibri" panose="020F0502020204030204" pitchFamily="34" charset="-122"/>
                <a:cs typeface="Calibri" panose="020F0502020204030204" pitchFamily="34" charset="-120"/>
              </a:rPr>
              <a:t>Ensuring info hasn't been improperly changed.</a:t>
            </a:r>
            <a:endParaRPr lang="en-US" sz="1200" dirty="0"/>
          </a:p>
        </p:txBody>
      </p:sp>
      <p:sp>
        <p:nvSpPr>
          <p:cNvPr id="14" name="Shape 12"/>
          <p:cNvSpPr/>
          <p:nvPr/>
        </p:nvSpPr>
        <p:spPr>
          <a:xfrm>
            <a:off x="4572000" y="3154680"/>
            <a:ext cx="3154680" cy="0"/>
          </a:xfrm>
          <a:prstGeom prst="line">
            <a:avLst/>
          </a:prstGeom>
          <a:noFill/>
          <a:ln w="12700">
            <a:solidFill>
              <a:srgbClr val="CCCCCC"/>
            </a:solidFill>
            <a:prstDash val="solid"/>
          </a:ln>
        </p:spPr>
      </p:sp>
      <p:sp>
        <p:nvSpPr>
          <p:cNvPr id="15" name="Text 13"/>
          <p:cNvSpPr/>
          <p:nvPr/>
        </p:nvSpPr>
        <p:spPr>
          <a:xfrm>
            <a:off x="4572000" y="3291840"/>
            <a:ext cx="3154680" cy="274320"/>
          </a:xfrm>
          <a:prstGeom prst="rect">
            <a:avLst/>
          </a:prstGeom>
          <a:noFill/>
        </p:spPr>
        <p:txBody>
          <a:bodyPr wrap="square" rtlCol="0" anchor="ctr"/>
          <a:lstStyle/>
          <a:p>
            <a:pPr marL="0" indent="0">
              <a:buNone/>
            </a:pPr>
            <a:r>
              <a:rPr lang="en-US" sz="1050" b="1" dirty="0">
                <a:solidFill>
                  <a:srgbClr val="1E2761"/>
                </a:solidFill>
                <a:latin typeface="Calibri" panose="020F0502020204030204" pitchFamily="34" charset="0"/>
                <a:ea typeface="Calibri" panose="020F0502020204030204" pitchFamily="34" charset="-122"/>
                <a:cs typeface="Calibri" panose="020F0502020204030204" pitchFamily="34" charset="-120"/>
              </a:rPr>
              <a:t>NovaPay example:</a:t>
            </a:r>
            <a:endParaRPr lang="en-US" sz="1050" dirty="0"/>
          </a:p>
        </p:txBody>
      </p:sp>
      <p:sp>
        <p:nvSpPr>
          <p:cNvPr id="16" name="Text 14"/>
          <p:cNvSpPr/>
          <p:nvPr/>
        </p:nvSpPr>
        <p:spPr>
          <a:xfrm>
            <a:off x="4572000" y="3566160"/>
            <a:ext cx="3154680" cy="1097280"/>
          </a:xfrm>
          <a:prstGeom prst="rect">
            <a:avLst/>
          </a:prstGeom>
          <a:noFill/>
        </p:spPr>
        <p:txBody>
          <a:bodyPr wrap="square" rtlCol="0" anchor="ctr"/>
          <a:lstStyle/>
          <a:p>
            <a:pPr marL="0" indent="0">
              <a:buNone/>
            </a:pPr>
            <a:r>
              <a:rPr lang="en-US" sz="1100" dirty="0">
                <a:solidFill>
                  <a:srgbClr val="666666"/>
                </a:solidFill>
                <a:latin typeface="Calibri" panose="020F0502020204030204" pitchFamily="34" charset="0"/>
                <a:ea typeface="Calibri" panose="020F0502020204030204" pitchFamily="34" charset="-122"/>
                <a:cs typeface="Calibri" panose="020F0502020204030204" pitchFamily="34" charset="-120"/>
              </a:rPr>
              <a:t>Fake news post; USB malware altering files</a:t>
            </a:r>
            <a:endParaRPr lang="en-US" sz="1100" dirty="0"/>
          </a:p>
        </p:txBody>
      </p:sp>
      <p:sp>
        <p:nvSpPr>
          <p:cNvPr id="17" name="Shape 15"/>
          <p:cNvSpPr/>
          <p:nvPr/>
        </p:nvSpPr>
        <p:spPr>
          <a:xfrm>
            <a:off x="8138160" y="1737360"/>
            <a:ext cx="3611880" cy="4206240"/>
          </a:xfrm>
          <a:prstGeom prst="rect">
            <a:avLst/>
          </a:prstGeom>
          <a:solidFill>
            <a:srgbClr val="FFFFFF"/>
          </a:solidFill>
          <a:ln w="12700">
            <a:solidFill>
              <a:srgbClr val="CCCCCC"/>
            </a:solidFill>
            <a:prstDash val="solid"/>
          </a:ln>
        </p:spPr>
      </p:sp>
      <p:sp>
        <p:nvSpPr>
          <p:cNvPr id="18" name="Text 16"/>
          <p:cNvSpPr/>
          <p:nvPr/>
        </p:nvSpPr>
        <p:spPr>
          <a:xfrm>
            <a:off x="8366760" y="1920240"/>
            <a:ext cx="3154680" cy="36576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Availability</a:t>
            </a:r>
            <a:endParaRPr lang="en-US" sz="1500" dirty="0"/>
          </a:p>
        </p:txBody>
      </p:sp>
      <p:sp>
        <p:nvSpPr>
          <p:cNvPr id="19" name="Text 17"/>
          <p:cNvSpPr/>
          <p:nvPr/>
        </p:nvSpPr>
        <p:spPr>
          <a:xfrm>
            <a:off x="8366760" y="2331720"/>
            <a:ext cx="3154680" cy="685800"/>
          </a:xfrm>
          <a:prstGeom prst="rect">
            <a:avLst/>
          </a:prstGeom>
          <a:noFill/>
        </p:spPr>
        <p:txBody>
          <a:bodyPr wrap="square" rtlCol="0" anchor="ctr"/>
          <a:lstStyle/>
          <a:p>
            <a:pPr marL="0" indent="0">
              <a:buNone/>
            </a:pPr>
            <a:r>
              <a:rPr lang="en-US" sz="1200" dirty="0">
                <a:solidFill>
                  <a:srgbClr val="333333"/>
                </a:solidFill>
                <a:latin typeface="Calibri" panose="020F0502020204030204" pitchFamily="34" charset="0"/>
                <a:ea typeface="Calibri" panose="020F0502020204030204" pitchFamily="34" charset="-122"/>
                <a:cs typeface="Calibri" panose="020F0502020204030204" pitchFamily="34" charset="-120"/>
              </a:rPr>
              <a:t>Keeping systems accessible to authorized users.</a:t>
            </a:r>
            <a:endParaRPr lang="en-US" sz="1200" dirty="0"/>
          </a:p>
        </p:txBody>
      </p:sp>
      <p:sp>
        <p:nvSpPr>
          <p:cNvPr id="20" name="Shape 18"/>
          <p:cNvSpPr/>
          <p:nvPr/>
        </p:nvSpPr>
        <p:spPr>
          <a:xfrm>
            <a:off x="8366760" y="3154680"/>
            <a:ext cx="3154680" cy="0"/>
          </a:xfrm>
          <a:prstGeom prst="line">
            <a:avLst/>
          </a:prstGeom>
          <a:noFill/>
          <a:ln w="12700">
            <a:solidFill>
              <a:srgbClr val="CCCCCC"/>
            </a:solidFill>
            <a:prstDash val="solid"/>
          </a:ln>
        </p:spPr>
      </p:sp>
      <p:sp>
        <p:nvSpPr>
          <p:cNvPr id="21" name="Text 19"/>
          <p:cNvSpPr/>
          <p:nvPr/>
        </p:nvSpPr>
        <p:spPr>
          <a:xfrm>
            <a:off x="8366760" y="3291840"/>
            <a:ext cx="3154680" cy="274320"/>
          </a:xfrm>
          <a:prstGeom prst="rect">
            <a:avLst/>
          </a:prstGeom>
          <a:noFill/>
        </p:spPr>
        <p:txBody>
          <a:bodyPr wrap="square" rtlCol="0" anchor="ctr"/>
          <a:lstStyle/>
          <a:p>
            <a:pPr marL="0" indent="0">
              <a:buNone/>
            </a:pPr>
            <a:r>
              <a:rPr lang="en-US" sz="1050" b="1" dirty="0">
                <a:solidFill>
                  <a:srgbClr val="1E2761"/>
                </a:solidFill>
                <a:latin typeface="Calibri" panose="020F0502020204030204" pitchFamily="34" charset="0"/>
                <a:ea typeface="Calibri" panose="020F0502020204030204" pitchFamily="34" charset="-122"/>
                <a:cs typeface="Calibri" panose="020F0502020204030204" pitchFamily="34" charset="-120"/>
              </a:rPr>
              <a:t>NovaPay example:</a:t>
            </a:r>
            <a:endParaRPr lang="en-US" sz="1050" dirty="0"/>
          </a:p>
        </p:txBody>
      </p:sp>
      <p:sp>
        <p:nvSpPr>
          <p:cNvPr id="22" name="Text 20"/>
          <p:cNvSpPr/>
          <p:nvPr/>
        </p:nvSpPr>
        <p:spPr>
          <a:xfrm>
            <a:off x="8366760" y="3566160"/>
            <a:ext cx="3154680" cy="1097280"/>
          </a:xfrm>
          <a:prstGeom prst="rect">
            <a:avLst/>
          </a:prstGeom>
          <a:noFill/>
        </p:spPr>
        <p:txBody>
          <a:bodyPr wrap="square" rtlCol="0" anchor="ctr"/>
          <a:lstStyle/>
          <a:p>
            <a:pPr marL="0" indent="0">
              <a:buNone/>
            </a:pPr>
            <a:r>
              <a:rPr lang="en-US" sz="1100" dirty="0">
                <a:solidFill>
                  <a:srgbClr val="666666"/>
                </a:solidFill>
                <a:latin typeface="Calibri" panose="020F0502020204030204" pitchFamily="34" charset="0"/>
                <a:ea typeface="Calibri" panose="020F0502020204030204" pitchFamily="34" charset="-122"/>
                <a:cs typeface="Calibri" panose="020F0502020204030204" pitchFamily="34" charset="-120"/>
              </a:rPr>
              <a:t>USB malware disrupting a PC; account lockout</a:t>
            </a:r>
            <a:endParaRPr lang="en-US" sz="1100" dirty="0"/>
          </a:p>
        </p:txBody>
      </p:sp>
      <p:sp>
        <p:nvSpPr>
          <p:cNvPr id="23" name="Text 21"/>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24" name="Text 22"/>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Security Champion Programme</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My ongoing role bridging daily operations and security</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Text 3"/>
          <p:cNvSpPr/>
          <p:nvPr/>
        </p:nvSpPr>
        <p:spPr>
          <a:xfrm>
            <a:off x="548640" y="1737360"/>
            <a:ext cx="11064240" cy="3657600"/>
          </a:xfrm>
          <a:prstGeom prst="rect">
            <a:avLst/>
          </a:prstGeom>
          <a:noFill/>
        </p:spPr>
        <p:txBody>
          <a:bodyPr wrap="square" rtlCol="0" anchor="t"/>
          <a:lstStyle/>
          <a:p>
            <a:pPr marL="228600" indent="-228600">
              <a:spcAft>
                <a:spcPts val="2000"/>
              </a:spcAft>
              <a:buSzPct val="100000"/>
              <a:buChar char="•"/>
            </a:pPr>
            <a:r>
              <a:rPr lang="en-US" sz="1500" b="1" dirty="0">
                <a:solidFill>
                  <a:srgbClr val="333333"/>
                </a:solidFill>
                <a:latin typeface="Calibri" panose="020F0502020204030204" pitchFamily="34" charset="0"/>
                <a:ea typeface="Calibri" panose="020F0502020204030204" pitchFamily="34" charset="-122"/>
                <a:cs typeface="Calibri" panose="020F0502020204030204" pitchFamily="34" charset="-120"/>
              </a:rPr>
              <a:t>Awareness Champion — </a:t>
            </a:r>
            <a:endParaRPr lang="en-US" sz="1500" dirty="0"/>
          </a:p>
          <a:p>
            <a:pPr marL="228600" indent="-228600">
              <a:spcAft>
                <a:spcPts val="2000"/>
              </a:spcAft>
              <a:buSzPct val="100000"/>
              <a:buChar char="•"/>
            </a:pPr>
            <a:r>
              <a:rPr lang="en-US" sz="1500" dirty="0">
                <a:solidFill>
                  <a:srgbClr val="333333"/>
                </a:solidFill>
                <a:latin typeface="Calibri" panose="020F0502020204030204" pitchFamily="34" charset="0"/>
                <a:ea typeface="Calibri" panose="020F0502020204030204" pitchFamily="34" charset="-122"/>
                <a:cs typeface="Calibri" panose="020F0502020204030204" pitchFamily="34" charset="-120"/>
              </a:rPr>
              <a:t>Regular short training sessions on USB risks, phishing, and disinformation.</a:t>
            </a:r>
            <a:endParaRPr lang="en-US" sz="1500" dirty="0"/>
          </a:p>
          <a:p>
            <a:pPr marL="228600" indent="-228600">
              <a:spcAft>
                <a:spcPts val="2000"/>
              </a:spcAft>
              <a:buSzPct val="100000"/>
              <a:buChar char="•"/>
            </a:pPr>
            <a:r>
              <a:rPr lang="en-US" sz="1500" b="1" dirty="0">
                <a:solidFill>
                  <a:srgbClr val="333333"/>
                </a:solidFill>
                <a:latin typeface="Calibri" panose="020F0502020204030204" pitchFamily="34" charset="0"/>
                <a:ea typeface="Calibri" panose="020F0502020204030204" pitchFamily="34" charset="-122"/>
                <a:cs typeface="Calibri" panose="020F0502020204030204" pitchFamily="34" charset="-120"/>
              </a:rPr>
              <a:t>First Point of Contact — </a:t>
            </a:r>
            <a:endParaRPr lang="en-US" sz="1500" dirty="0"/>
          </a:p>
          <a:p>
            <a:pPr marL="228600" indent="-228600">
              <a:spcAft>
                <a:spcPts val="2000"/>
              </a:spcAft>
              <a:buSzPct val="100000"/>
              <a:buChar char="•"/>
            </a:pPr>
            <a:r>
              <a:rPr lang="en-US" sz="1500" dirty="0">
                <a:solidFill>
                  <a:srgbClr val="333333"/>
                </a:solidFill>
                <a:latin typeface="Calibri" panose="020F0502020204030204" pitchFamily="34" charset="0"/>
                <a:ea typeface="Calibri" panose="020F0502020204030204" pitchFamily="34" charset="-122"/>
                <a:cs typeface="Calibri" panose="020F0502020204030204" pitchFamily="34" charset="-120"/>
              </a:rPr>
              <a:t>A clear channel for staff to report anything suspicious, no hesitation.</a:t>
            </a:r>
            <a:endParaRPr lang="en-US" sz="1500" dirty="0"/>
          </a:p>
          <a:p>
            <a:pPr marL="228600" indent="-228600">
              <a:spcAft>
                <a:spcPts val="2000"/>
              </a:spcAft>
              <a:buSzPct val="100000"/>
              <a:buChar char="•"/>
            </a:pPr>
            <a:r>
              <a:rPr lang="en-US" sz="1500" b="1" dirty="0">
                <a:solidFill>
                  <a:srgbClr val="333333"/>
                </a:solidFill>
                <a:latin typeface="Calibri" panose="020F0502020204030204" pitchFamily="34" charset="0"/>
                <a:ea typeface="Calibri" panose="020F0502020204030204" pitchFamily="34" charset="-122"/>
                <a:cs typeface="Calibri" panose="020F0502020204030204" pitchFamily="34" charset="-120"/>
              </a:rPr>
              <a:t>Policy Monitoring — </a:t>
            </a:r>
            <a:endParaRPr lang="en-US" sz="1500" dirty="0"/>
          </a:p>
          <a:p>
            <a:pPr marL="228600" indent="-228600">
              <a:spcAft>
                <a:spcPts val="2000"/>
              </a:spcAft>
              <a:buSzPct val="100000"/>
              <a:buChar char="•"/>
            </a:pPr>
            <a:r>
              <a:rPr lang="en-US" sz="1500" dirty="0">
                <a:solidFill>
                  <a:srgbClr val="333333"/>
                </a:solidFill>
                <a:latin typeface="Calibri" panose="020F0502020204030204" pitchFamily="34" charset="0"/>
                <a:ea typeface="Calibri" panose="020F0502020204030204" pitchFamily="34" charset="-122"/>
                <a:cs typeface="Calibri" panose="020F0502020204030204" pitchFamily="34" charset="-120"/>
              </a:rPr>
              <a:t>Checking MFA, password manager, and update adoption in practice.</a:t>
            </a:r>
            <a:endParaRPr lang="en-US" sz="1500" dirty="0"/>
          </a:p>
          <a:p>
            <a:pPr marL="228600" indent="-228600">
              <a:spcAft>
                <a:spcPts val="2000"/>
              </a:spcAft>
              <a:buSzPct val="100000"/>
              <a:buChar char="•"/>
            </a:pPr>
            <a:r>
              <a:rPr lang="en-US" sz="1500" b="1" dirty="0">
                <a:solidFill>
                  <a:srgbClr val="333333"/>
                </a:solidFill>
                <a:latin typeface="Calibri" panose="020F0502020204030204" pitchFamily="34" charset="0"/>
                <a:ea typeface="Calibri" panose="020F0502020204030204" pitchFamily="34" charset="-122"/>
                <a:cs typeface="Calibri" panose="020F0502020204030204" pitchFamily="34" charset="-120"/>
              </a:rPr>
              <a:t>Incident Coordination — </a:t>
            </a:r>
            <a:endParaRPr lang="en-US" sz="1500" dirty="0"/>
          </a:p>
          <a:p>
            <a:pPr marL="228600" indent="-228600">
              <a:spcAft>
                <a:spcPts val="2000"/>
              </a:spcAft>
              <a:buSzPct val="100000"/>
              <a:buChar char="•"/>
            </a:pPr>
            <a:r>
              <a:rPr lang="en-US" sz="1500" dirty="0">
                <a:solidFill>
                  <a:srgbClr val="333333"/>
                </a:solidFill>
                <a:latin typeface="Calibri" panose="020F0502020204030204" pitchFamily="34" charset="0"/>
                <a:ea typeface="Calibri" panose="020F0502020204030204" pitchFamily="34" charset="-122"/>
                <a:cs typeface="Calibri" panose="020F0502020204030204" pitchFamily="34" charset="-120"/>
              </a:rPr>
              <a:t>Leading the documented response plan if a future incident occurs.</a:t>
            </a:r>
            <a:endParaRPr lang="en-US" sz="1500" dirty="0"/>
          </a:p>
          <a:p>
            <a:pPr marL="228600" indent="-228600">
              <a:spcAft>
                <a:spcPts val="2000"/>
              </a:spcAft>
              <a:buSzPct val="100000"/>
              <a:buChar char="•"/>
            </a:pPr>
            <a:r>
              <a:rPr lang="en-US" sz="1500" b="1" dirty="0">
                <a:solidFill>
                  <a:srgbClr val="333333"/>
                </a:solidFill>
                <a:latin typeface="Calibri" panose="020F0502020204030204" pitchFamily="34" charset="0"/>
                <a:ea typeface="Calibri" panose="020F0502020204030204" pitchFamily="34" charset="-122"/>
                <a:cs typeface="Calibri" panose="020F0502020204030204" pitchFamily="34" charset="-120"/>
              </a:rPr>
              <a:t>Tool Evaluation — </a:t>
            </a:r>
            <a:endParaRPr lang="en-US" sz="1500" dirty="0"/>
          </a:p>
          <a:p>
            <a:pPr marL="228600" indent="-228600">
              <a:spcAft>
                <a:spcPts val="2000"/>
              </a:spcAft>
              <a:buSzPct val="100000"/>
              <a:buChar char="•"/>
            </a:pPr>
            <a:r>
              <a:rPr lang="en-US" sz="1500" dirty="0">
                <a:solidFill>
                  <a:srgbClr val="333333"/>
                </a:solidFill>
                <a:latin typeface="Calibri" panose="020F0502020204030204" pitchFamily="34" charset="0"/>
                <a:ea typeface="Calibri" panose="020F0502020204030204" pitchFamily="34" charset="-122"/>
                <a:cs typeface="Calibri" panose="020F0502020204030204" pitchFamily="34" charset="-120"/>
              </a:rPr>
              <a:t>Reviewing new security tools before company-wide rollout.</a:t>
            </a:r>
            <a:endParaRPr lang="en-US" sz="1500" dirty="0"/>
          </a:p>
        </p:txBody>
      </p:sp>
      <p:sp>
        <p:nvSpPr>
          <p:cNvPr id="6" name="Text 4"/>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7" name="Text 5"/>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Top Security Recommendations</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The highest-impact fixes for NovaPay's exposed gaps</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Shape 3"/>
          <p:cNvSpPr/>
          <p:nvPr/>
        </p:nvSpPr>
        <p:spPr>
          <a:xfrm>
            <a:off x="548640" y="1737360"/>
            <a:ext cx="3611880" cy="1737360"/>
          </a:xfrm>
          <a:prstGeom prst="rect">
            <a:avLst/>
          </a:prstGeom>
          <a:solidFill>
            <a:srgbClr val="FFFFFF"/>
          </a:solidFill>
          <a:ln w="12700">
            <a:solidFill>
              <a:srgbClr val="CCCCCC"/>
            </a:solidFill>
            <a:prstDash val="solid"/>
          </a:ln>
        </p:spPr>
      </p:sp>
      <p:sp>
        <p:nvSpPr>
          <p:cNvPr id="6" name="Text 4"/>
          <p:cNvSpPr/>
          <p:nvPr/>
        </p:nvSpPr>
        <p:spPr>
          <a:xfrm>
            <a:off x="749808" y="1901952"/>
            <a:ext cx="3209544" cy="457200"/>
          </a:xfrm>
          <a:prstGeom prst="rect">
            <a:avLst/>
          </a:prstGeom>
          <a:noFill/>
        </p:spPr>
        <p:txBody>
          <a:bodyPr wrap="square" rtlCol="0" anchor="ctr"/>
          <a:lstStyle/>
          <a:p>
            <a:pPr marL="0" indent="0">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1. Multi-Factor Authentication</a:t>
            </a:r>
            <a:endParaRPr lang="en-US" sz="1350" dirty="0"/>
          </a:p>
        </p:txBody>
      </p:sp>
      <p:sp>
        <p:nvSpPr>
          <p:cNvPr id="7" name="Text 5"/>
          <p:cNvSpPr/>
          <p:nvPr/>
        </p:nvSpPr>
        <p:spPr>
          <a:xfrm>
            <a:off x="749808" y="2423160"/>
            <a:ext cx="3209544" cy="822960"/>
          </a:xfrm>
          <a:prstGeom prst="rect">
            <a:avLst/>
          </a:prstGeom>
          <a:noFill/>
        </p:spPr>
        <p:txBody>
          <a:bodyPr wrap="square" rtlCol="0" anchor="ctr"/>
          <a:lstStyle/>
          <a:p>
            <a:pPr marL="0" indent="0">
              <a:buNone/>
            </a:pP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Stops stolen passwords alone from granting access.</a:t>
            </a:r>
            <a:endParaRPr lang="en-US" sz="1150" dirty="0"/>
          </a:p>
        </p:txBody>
      </p:sp>
      <p:sp>
        <p:nvSpPr>
          <p:cNvPr id="8" name="Shape 6"/>
          <p:cNvSpPr/>
          <p:nvPr/>
        </p:nvSpPr>
        <p:spPr>
          <a:xfrm>
            <a:off x="4343400" y="1737360"/>
            <a:ext cx="3611880" cy="1737360"/>
          </a:xfrm>
          <a:prstGeom prst="rect">
            <a:avLst/>
          </a:prstGeom>
          <a:solidFill>
            <a:srgbClr val="FFFFFF"/>
          </a:solidFill>
          <a:ln w="12700">
            <a:solidFill>
              <a:srgbClr val="CCCCCC"/>
            </a:solidFill>
            <a:prstDash val="solid"/>
          </a:ln>
        </p:spPr>
      </p:sp>
      <p:sp>
        <p:nvSpPr>
          <p:cNvPr id="9" name="Text 7"/>
          <p:cNvSpPr/>
          <p:nvPr/>
        </p:nvSpPr>
        <p:spPr>
          <a:xfrm>
            <a:off x="4544568" y="1901952"/>
            <a:ext cx="3209544" cy="457200"/>
          </a:xfrm>
          <a:prstGeom prst="rect">
            <a:avLst/>
          </a:prstGeom>
          <a:noFill/>
        </p:spPr>
        <p:txBody>
          <a:bodyPr wrap="square" rtlCol="0" anchor="ctr"/>
          <a:lstStyle/>
          <a:p>
            <a:pPr marL="0" indent="0">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2. Endpoint Protection</a:t>
            </a:r>
            <a:endParaRPr lang="en-US" sz="1350" dirty="0"/>
          </a:p>
        </p:txBody>
      </p:sp>
      <p:sp>
        <p:nvSpPr>
          <p:cNvPr id="10" name="Text 8"/>
          <p:cNvSpPr/>
          <p:nvPr/>
        </p:nvSpPr>
        <p:spPr>
          <a:xfrm>
            <a:off x="4544568" y="2423160"/>
            <a:ext cx="3209544" cy="822960"/>
          </a:xfrm>
          <a:prstGeom prst="rect">
            <a:avLst/>
          </a:prstGeom>
          <a:noFill/>
        </p:spPr>
        <p:txBody>
          <a:bodyPr wrap="square" rtlCol="0" anchor="ctr"/>
          <a:lstStyle/>
          <a:p>
            <a:pPr marL="0" indent="0">
              <a:buNone/>
            </a:pP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Detects and blocks malware in real time.</a:t>
            </a:r>
            <a:endParaRPr lang="en-US" sz="1150" dirty="0"/>
          </a:p>
        </p:txBody>
      </p:sp>
      <p:sp>
        <p:nvSpPr>
          <p:cNvPr id="11" name="Shape 9"/>
          <p:cNvSpPr/>
          <p:nvPr/>
        </p:nvSpPr>
        <p:spPr>
          <a:xfrm>
            <a:off x="8138160" y="1737360"/>
            <a:ext cx="3611880" cy="1737360"/>
          </a:xfrm>
          <a:prstGeom prst="rect">
            <a:avLst/>
          </a:prstGeom>
          <a:solidFill>
            <a:srgbClr val="FFFFFF"/>
          </a:solidFill>
          <a:ln w="12700">
            <a:solidFill>
              <a:srgbClr val="CCCCCC"/>
            </a:solidFill>
            <a:prstDash val="solid"/>
          </a:ln>
        </p:spPr>
      </p:sp>
      <p:sp>
        <p:nvSpPr>
          <p:cNvPr id="12" name="Text 10"/>
          <p:cNvSpPr/>
          <p:nvPr/>
        </p:nvSpPr>
        <p:spPr>
          <a:xfrm>
            <a:off x="8339328" y="1901952"/>
            <a:ext cx="3209544" cy="457200"/>
          </a:xfrm>
          <a:prstGeom prst="rect">
            <a:avLst/>
          </a:prstGeom>
          <a:noFill/>
        </p:spPr>
        <p:txBody>
          <a:bodyPr wrap="square" rtlCol="0" anchor="ctr"/>
          <a:lstStyle/>
          <a:p>
            <a:pPr marL="0" indent="0">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3. Employee Training</a:t>
            </a:r>
            <a:endParaRPr lang="en-US" sz="1350" dirty="0"/>
          </a:p>
        </p:txBody>
      </p:sp>
      <p:sp>
        <p:nvSpPr>
          <p:cNvPr id="13" name="Text 11"/>
          <p:cNvSpPr/>
          <p:nvPr/>
        </p:nvSpPr>
        <p:spPr>
          <a:xfrm>
            <a:off x="8339328" y="2423160"/>
            <a:ext cx="3209544" cy="822960"/>
          </a:xfrm>
          <a:prstGeom prst="rect">
            <a:avLst/>
          </a:prstGeom>
          <a:noFill/>
        </p:spPr>
        <p:txBody>
          <a:bodyPr wrap="square" rtlCol="0" anchor="ctr"/>
          <a:lstStyle/>
          <a:p>
            <a:pPr marL="0" indent="0">
              <a:buNone/>
            </a:pP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Turns staff into a defense layer, not a weak point.</a:t>
            </a:r>
            <a:endParaRPr lang="en-US" sz="1150" dirty="0"/>
          </a:p>
        </p:txBody>
      </p:sp>
      <p:sp>
        <p:nvSpPr>
          <p:cNvPr id="14" name="Shape 12"/>
          <p:cNvSpPr/>
          <p:nvPr/>
        </p:nvSpPr>
        <p:spPr>
          <a:xfrm>
            <a:off x="548640" y="3657600"/>
            <a:ext cx="3611880" cy="1737360"/>
          </a:xfrm>
          <a:prstGeom prst="rect">
            <a:avLst/>
          </a:prstGeom>
          <a:solidFill>
            <a:srgbClr val="FFFFFF"/>
          </a:solidFill>
          <a:ln w="12700">
            <a:solidFill>
              <a:srgbClr val="CCCCCC"/>
            </a:solidFill>
            <a:prstDash val="solid"/>
          </a:ln>
        </p:spPr>
      </p:sp>
      <p:sp>
        <p:nvSpPr>
          <p:cNvPr id="15" name="Text 13"/>
          <p:cNvSpPr/>
          <p:nvPr/>
        </p:nvSpPr>
        <p:spPr>
          <a:xfrm>
            <a:off x="749808" y="3822192"/>
            <a:ext cx="3209544" cy="457200"/>
          </a:xfrm>
          <a:prstGeom prst="rect">
            <a:avLst/>
          </a:prstGeom>
          <a:noFill/>
        </p:spPr>
        <p:txBody>
          <a:bodyPr wrap="square" rtlCol="0" anchor="ctr"/>
          <a:lstStyle/>
          <a:p>
            <a:pPr marL="0" indent="0">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4. USB Device Restrictions</a:t>
            </a:r>
            <a:endParaRPr lang="en-US" sz="1350" dirty="0"/>
          </a:p>
        </p:txBody>
      </p:sp>
      <p:sp>
        <p:nvSpPr>
          <p:cNvPr id="16" name="Text 14"/>
          <p:cNvSpPr/>
          <p:nvPr/>
        </p:nvSpPr>
        <p:spPr>
          <a:xfrm>
            <a:off x="749808" y="4343400"/>
            <a:ext cx="3209544" cy="822960"/>
          </a:xfrm>
          <a:prstGeom prst="rect">
            <a:avLst/>
          </a:prstGeom>
          <a:noFill/>
        </p:spPr>
        <p:txBody>
          <a:bodyPr wrap="square" rtlCol="0" anchor="ctr"/>
          <a:lstStyle/>
          <a:p>
            <a:pPr marL="0" indent="0">
              <a:buNone/>
            </a:pP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Closes the exact entry point used in this incident.</a:t>
            </a:r>
            <a:endParaRPr lang="en-US" sz="1150" dirty="0"/>
          </a:p>
        </p:txBody>
      </p:sp>
      <p:sp>
        <p:nvSpPr>
          <p:cNvPr id="17" name="Shape 15"/>
          <p:cNvSpPr/>
          <p:nvPr/>
        </p:nvSpPr>
        <p:spPr>
          <a:xfrm>
            <a:off x="4343400" y="3657600"/>
            <a:ext cx="3611880" cy="1737360"/>
          </a:xfrm>
          <a:prstGeom prst="rect">
            <a:avLst/>
          </a:prstGeom>
          <a:solidFill>
            <a:srgbClr val="FFFFFF"/>
          </a:solidFill>
          <a:ln w="12700">
            <a:solidFill>
              <a:srgbClr val="CCCCCC"/>
            </a:solidFill>
            <a:prstDash val="solid"/>
          </a:ln>
        </p:spPr>
      </p:sp>
      <p:sp>
        <p:nvSpPr>
          <p:cNvPr id="18" name="Text 16"/>
          <p:cNvSpPr/>
          <p:nvPr/>
        </p:nvSpPr>
        <p:spPr>
          <a:xfrm>
            <a:off x="4544568" y="3822192"/>
            <a:ext cx="3209544" cy="457200"/>
          </a:xfrm>
          <a:prstGeom prst="rect">
            <a:avLst/>
          </a:prstGeom>
          <a:noFill/>
        </p:spPr>
        <p:txBody>
          <a:bodyPr wrap="square" rtlCol="0" anchor="ctr"/>
          <a:lstStyle/>
          <a:p>
            <a:pPr marL="0" indent="0">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5. Backup Systems</a:t>
            </a:r>
            <a:endParaRPr lang="en-US" sz="1350" dirty="0"/>
          </a:p>
        </p:txBody>
      </p:sp>
      <p:sp>
        <p:nvSpPr>
          <p:cNvPr id="19" name="Text 17"/>
          <p:cNvSpPr/>
          <p:nvPr/>
        </p:nvSpPr>
        <p:spPr>
          <a:xfrm>
            <a:off x="4544568" y="4343400"/>
            <a:ext cx="3209544" cy="822960"/>
          </a:xfrm>
          <a:prstGeom prst="rect">
            <a:avLst/>
          </a:prstGeom>
          <a:noFill/>
        </p:spPr>
        <p:txBody>
          <a:bodyPr wrap="square" rtlCol="0" anchor="ctr"/>
          <a:lstStyle/>
          <a:p>
            <a:pPr marL="0" indent="0">
              <a:buNone/>
            </a:pP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Guarantees recovery without paying attackers.</a:t>
            </a:r>
            <a:endParaRPr lang="en-US" sz="1150" dirty="0"/>
          </a:p>
        </p:txBody>
      </p:sp>
      <p:sp>
        <p:nvSpPr>
          <p:cNvPr id="20" name="Shape 18"/>
          <p:cNvSpPr/>
          <p:nvPr/>
        </p:nvSpPr>
        <p:spPr>
          <a:xfrm>
            <a:off x="8138160" y="3657600"/>
            <a:ext cx="3611880" cy="1737360"/>
          </a:xfrm>
          <a:prstGeom prst="rect">
            <a:avLst/>
          </a:prstGeom>
          <a:solidFill>
            <a:srgbClr val="FFFFFF"/>
          </a:solidFill>
          <a:ln w="12700">
            <a:solidFill>
              <a:srgbClr val="CCCCCC"/>
            </a:solidFill>
            <a:prstDash val="solid"/>
          </a:ln>
        </p:spPr>
      </p:sp>
      <p:sp>
        <p:nvSpPr>
          <p:cNvPr id="21" name="Text 19"/>
          <p:cNvSpPr/>
          <p:nvPr/>
        </p:nvSpPr>
        <p:spPr>
          <a:xfrm>
            <a:off x="8339328" y="3822192"/>
            <a:ext cx="3209544" cy="457200"/>
          </a:xfrm>
          <a:prstGeom prst="rect">
            <a:avLst/>
          </a:prstGeom>
          <a:noFill/>
        </p:spPr>
        <p:txBody>
          <a:bodyPr wrap="square" rtlCol="0" anchor="ctr"/>
          <a:lstStyle/>
          <a:p>
            <a:pPr marL="0" indent="0">
              <a:buNone/>
            </a:pPr>
            <a:r>
              <a:rPr lang="en-US" sz="1350" b="1" dirty="0">
                <a:solidFill>
                  <a:srgbClr val="1E2761"/>
                </a:solidFill>
                <a:latin typeface="Calibri" panose="020F0502020204030204" pitchFamily="34" charset="0"/>
                <a:ea typeface="Calibri" panose="020F0502020204030204" pitchFamily="34" charset="-122"/>
                <a:cs typeface="Calibri" panose="020F0502020204030204" pitchFamily="34" charset="-120"/>
              </a:rPr>
              <a:t>6. Security Monitoring</a:t>
            </a:r>
            <a:endParaRPr lang="en-US" sz="1350" dirty="0"/>
          </a:p>
        </p:txBody>
      </p:sp>
      <p:sp>
        <p:nvSpPr>
          <p:cNvPr id="22" name="Text 20"/>
          <p:cNvSpPr/>
          <p:nvPr/>
        </p:nvSpPr>
        <p:spPr>
          <a:xfrm>
            <a:off x="8339328" y="4343400"/>
            <a:ext cx="3209544" cy="822960"/>
          </a:xfrm>
          <a:prstGeom prst="rect">
            <a:avLst/>
          </a:prstGeom>
          <a:noFill/>
        </p:spPr>
        <p:txBody>
          <a:bodyPr wrap="square" rtlCol="0" anchor="ctr"/>
          <a:lstStyle/>
          <a:p>
            <a:pPr marL="0" indent="0">
              <a:buNone/>
            </a:pP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Catches suspicious activity instead of relying on chance.</a:t>
            </a:r>
            <a:endParaRPr lang="en-US" sz="1150" dirty="0"/>
          </a:p>
        </p:txBody>
      </p:sp>
      <p:sp>
        <p:nvSpPr>
          <p:cNvPr id="23" name="Text 21"/>
          <p:cNvSpPr/>
          <p:nvPr/>
        </p:nvSpPr>
        <p:spPr>
          <a:xfrm>
            <a:off x="548640" y="5623560"/>
            <a:ext cx="9144000" cy="320040"/>
          </a:xfrm>
          <a:prstGeom prst="rect">
            <a:avLst/>
          </a:prstGeom>
          <a:noFill/>
        </p:spPr>
        <p:txBody>
          <a:bodyPr wrap="square" rtlCol="0" anchor="ctr"/>
          <a:lstStyle/>
          <a:p>
            <a:pPr marL="0" indent="0">
              <a:buNone/>
            </a:pPr>
            <a:r>
              <a:rPr lang="en-US" sz="1100" i="1" dirty="0">
                <a:solidFill>
                  <a:srgbClr val="666666"/>
                </a:solidFill>
                <a:latin typeface="Calibri" panose="020F0502020204030204" pitchFamily="34" charset="0"/>
                <a:ea typeface="Calibri" panose="020F0502020204030204" pitchFamily="34" charset="-122"/>
                <a:cs typeface="Calibri" panose="020F0502020204030204" pitchFamily="34" charset="-120"/>
              </a:rPr>
              <a:t>Full list of 14 recommendations detailed in the written project summary.</a:t>
            </a:r>
            <a:endParaRPr lang="en-US" sz="1100" dirty="0"/>
          </a:p>
        </p:txBody>
      </p:sp>
      <p:sp>
        <p:nvSpPr>
          <p:cNvPr id="24" name="Text 22"/>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25" name="Text 23"/>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Cybersecurity Budget</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Allocating the approved ₦1,500,000</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graphicFrame>
        <p:nvGraphicFramePr>
          <p:cNvPr id="5" name="Chart 0"/>
          <p:cNvGraphicFramePr/>
          <p:nvPr/>
        </p:nvGraphicFramePr>
        <p:xfrm>
          <a:off x="457200" y="1691640"/>
          <a:ext cx="6035040" cy="4663440"/>
        </p:xfrm>
        <a:graphic>
          <a:graphicData uri="http://schemas.openxmlformats.org/drawingml/2006/chart">
            <c:chart xmlns:c="http://schemas.openxmlformats.org/drawingml/2006/chart" xmlns:r="http://schemas.openxmlformats.org/officeDocument/2006/relationships" r:id="rId1"/>
          </a:graphicData>
        </a:graphic>
      </p:graphicFrame>
      <p:sp>
        <p:nvSpPr>
          <p:cNvPr id="6" name="Shape 3"/>
          <p:cNvSpPr/>
          <p:nvPr/>
        </p:nvSpPr>
        <p:spPr>
          <a:xfrm>
            <a:off x="6720840" y="1691640"/>
            <a:ext cx="4937760" cy="4663440"/>
          </a:xfrm>
          <a:prstGeom prst="rect">
            <a:avLst/>
          </a:prstGeom>
          <a:solidFill>
            <a:srgbClr val="FFFFFF"/>
          </a:solidFill>
          <a:ln w="12700">
            <a:solidFill>
              <a:srgbClr val="CCCCCC"/>
            </a:solidFill>
            <a:prstDash val="solid"/>
          </a:ln>
        </p:spPr>
      </p:sp>
      <p:sp>
        <p:nvSpPr>
          <p:cNvPr id="7" name="Text 4"/>
          <p:cNvSpPr/>
          <p:nvPr/>
        </p:nvSpPr>
        <p:spPr>
          <a:xfrm>
            <a:off x="6949440" y="1828800"/>
            <a:ext cx="4480560" cy="365760"/>
          </a:xfrm>
          <a:prstGeom prst="rect">
            <a:avLst/>
          </a:prstGeom>
          <a:noFill/>
        </p:spPr>
        <p:txBody>
          <a:bodyPr wrap="square" rtlCol="0" anchor="ctr"/>
          <a:lstStyle/>
          <a:p>
            <a:pPr marL="0" indent="0">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Priority Breakdown</a:t>
            </a:r>
            <a:endParaRPr lang="en-US" sz="1600" dirty="0"/>
          </a:p>
        </p:txBody>
      </p:sp>
      <p:sp>
        <p:nvSpPr>
          <p:cNvPr id="8" name="Text 5"/>
          <p:cNvSpPr/>
          <p:nvPr/>
        </p:nvSpPr>
        <p:spPr>
          <a:xfrm>
            <a:off x="6949440" y="2331720"/>
            <a:ext cx="2926080" cy="274320"/>
          </a:xfrm>
          <a:prstGeom prst="rect">
            <a:avLst/>
          </a:prstGeom>
          <a:noFill/>
        </p:spPr>
        <p:txBody>
          <a:bodyPr wrap="square"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Critical</a:t>
            </a:r>
            <a:endParaRPr lang="en-US" sz="1300" dirty="0"/>
          </a:p>
        </p:txBody>
      </p:sp>
      <p:sp>
        <p:nvSpPr>
          <p:cNvPr id="9" name="Text 6"/>
          <p:cNvSpPr/>
          <p:nvPr/>
        </p:nvSpPr>
        <p:spPr>
          <a:xfrm>
            <a:off x="9692640" y="2331720"/>
            <a:ext cx="1737360" cy="274320"/>
          </a:xfrm>
          <a:prstGeom prst="rect">
            <a:avLst/>
          </a:prstGeom>
          <a:noFill/>
        </p:spPr>
        <p:txBody>
          <a:bodyPr wrap="square" rtlCol="0" anchor="ctr"/>
          <a:lstStyle/>
          <a:p>
            <a:pPr marL="0" indent="0" algn="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₦520,000</a:t>
            </a:r>
            <a:endParaRPr lang="en-US" sz="1300" dirty="0"/>
          </a:p>
        </p:txBody>
      </p:sp>
      <p:sp>
        <p:nvSpPr>
          <p:cNvPr id="10" name="Text 7"/>
          <p:cNvSpPr/>
          <p:nvPr/>
        </p:nvSpPr>
        <p:spPr>
          <a:xfrm>
            <a:off x="6949440" y="2651760"/>
            <a:ext cx="4480560" cy="548640"/>
          </a:xfrm>
          <a:prstGeom prst="rect">
            <a:avLst/>
          </a:prstGeom>
          <a:noFill/>
        </p:spPr>
        <p:txBody>
          <a:bodyPr wrap="square" rtlCol="0" anchor="ctr"/>
          <a:lstStyle/>
          <a:p>
            <a:pPr marL="0" indent="0">
              <a:buNone/>
            </a:pPr>
            <a:r>
              <a:rPr lang="en-US" sz="1050" dirty="0">
                <a:solidFill>
                  <a:srgbClr val="666666"/>
                </a:solidFill>
                <a:latin typeface="Calibri" panose="020F0502020204030204" pitchFamily="34" charset="0"/>
                <a:ea typeface="Calibri" panose="020F0502020204030204" pitchFamily="34" charset="-122"/>
                <a:cs typeface="Calibri" panose="020F0502020204030204" pitchFamily="34" charset="-120"/>
              </a:rPr>
              <a:t>Endpoint Security, Backup, MFA</a:t>
            </a:r>
            <a:endParaRPr lang="en-US" sz="1050" dirty="0"/>
          </a:p>
        </p:txBody>
      </p:sp>
      <p:sp>
        <p:nvSpPr>
          <p:cNvPr id="11" name="Shape 8"/>
          <p:cNvSpPr/>
          <p:nvPr/>
        </p:nvSpPr>
        <p:spPr>
          <a:xfrm>
            <a:off x="6949440" y="3291840"/>
            <a:ext cx="4480560" cy="0"/>
          </a:xfrm>
          <a:prstGeom prst="line">
            <a:avLst/>
          </a:prstGeom>
          <a:noFill/>
          <a:ln w="12700">
            <a:solidFill>
              <a:srgbClr val="CCCCCC"/>
            </a:solidFill>
            <a:prstDash val="solid"/>
          </a:ln>
        </p:spPr>
      </p:sp>
      <p:sp>
        <p:nvSpPr>
          <p:cNvPr id="12" name="Text 9"/>
          <p:cNvSpPr/>
          <p:nvPr/>
        </p:nvSpPr>
        <p:spPr>
          <a:xfrm>
            <a:off x="6949440" y="3520440"/>
            <a:ext cx="2926080" cy="274320"/>
          </a:xfrm>
          <a:prstGeom prst="rect">
            <a:avLst/>
          </a:prstGeom>
          <a:noFill/>
        </p:spPr>
        <p:txBody>
          <a:bodyPr wrap="square"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High</a:t>
            </a:r>
            <a:endParaRPr lang="en-US" sz="1300" dirty="0"/>
          </a:p>
        </p:txBody>
      </p:sp>
      <p:sp>
        <p:nvSpPr>
          <p:cNvPr id="13" name="Text 10"/>
          <p:cNvSpPr/>
          <p:nvPr/>
        </p:nvSpPr>
        <p:spPr>
          <a:xfrm>
            <a:off x="9692640" y="3520440"/>
            <a:ext cx="1737360" cy="274320"/>
          </a:xfrm>
          <a:prstGeom prst="rect">
            <a:avLst/>
          </a:prstGeom>
          <a:noFill/>
        </p:spPr>
        <p:txBody>
          <a:bodyPr wrap="square" rtlCol="0" anchor="ctr"/>
          <a:lstStyle/>
          <a:p>
            <a:pPr marL="0" indent="0" algn="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₦790,000</a:t>
            </a:r>
            <a:endParaRPr lang="en-US" sz="1300" dirty="0"/>
          </a:p>
        </p:txBody>
      </p:sp>
      <p:sp>
        <p:nvSpPr>
          <p:cNvPr id="14" name="Text 11"/>
          <p:cNvSpPr/>
          <p:nvPr/>
        </p:nvSpPr>
        <p:spPr>
          <a:xfrm>
            <a:off x="6949440" y="3840480"/>
            <a:ext cx="4480560" cy="548640"/>
          </a:xfrm>
          <a:prstGeom prst="rect">
            <a:avLst/>
          </a:prstGeom>
          <a:noFill/>
        </p:spPr>
        <p:txBody>
          <a:bodyPr wrap="square" rtlCol="0" anchor="ctr"/>
          <a:lstStyle/>
          <a:p>
            <a:pPr marL="0" indent="0">
              <a:buNone/>
            </a:pPr>
            <a:r>
              <a:rPr lang="en-US" sz="1050" dirty="0">
                <a:solidFill>
                  <a:srgbClr val="666666"/>
                </a:solidFill>
                <a:latin typeface="Calibri" panose="020F0502020204030204" pitchFamily="34" charset="0"/>
                <a:ea typeface="Calibri" panose="020F0502020204030204" pitchFamily="34" charset="-122"/>
                <a:cs typeface="Calibri" panose="020F0502020204030204" pitchFamily="34" charset="-120"/>
              </a:rPr>
              <a:t>Training, USB Security, Firewall, Monitoring, Password Mgr</a:t>
            </a:r>
            <a:endParaRPr lang="en-US" sz="1050" dirty="0"/>
          </a:p>
        </p:txBody>
      </p:sp>
      <p:sp>
        <p:nvSpPr>
          <p:cNvPr id="15" name="Shape 12"/>
          <p:cNvSpPr/>
          <p:nvPr/>
        </p:nvSpPr>
        <p:spPr>
          <a:xfrm>
            <a:off x="6949440" y="4480560"/>
            <a:ext cx="4480560" cy="0"/>
          </a:xfrm>
          <a:prstGeom prst="line">
            <a:avLst/>
          </a:prstGeom>
          <a:noFill/>
          <a:ln w="12700">
            <a:solidFill>
              <a:srgbClr val="CCCCCC"/>
            </a:solidFill>
            <a:prstDash val="solid"/>
          </a:ln>
        </p:spPr>
      </p:sp>
      <p:sp>
        <p:nvSpPr>
          <p:cNvPr id="16" name="Text 13"/>
          <p:cNvSpPr/>
          <p:nvPr/>
        </p:nvSpPr>
        <p:spPr>
          <a:xfrm>
            <a:off x="6949440" y="4709160"/>
            <a:ext cx="2926080" cy="274320"/>
          </a:xfrm>
          <a:prstGeom prst="rect">
            <a:avLst/>
          </a:prstGeom>
          <a:noFill/>
        </p:spPr>
        <p:txBody>
          <a:bodyPr wrap="square"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Medium</a:t>
            </a:r>
            <a:endParaRPr lang="en-US" sz="1300" dirty="0"/>
          </a:p>
        </p:txBody>
      </p:sp>
      <p:sp>
        <p:nvSpPr>
          <p:cNvPr id="17" name="Text 14"/>
          <p:cNvSpPr/>
          <p:nvPr/>
        </p:nvSpPr>
        <p:spPr>
          <a:xfrm>
            <a:off x="9692640" y="4709160"/>
            <a:ext cx="1737360" cy="274320"/>
          </a:xfrm>
          <a:prstGeom prst="rect">
            <a:avLst/>
          </a:prstGeom>
          <a:noFill/>
        </p:spPr>
        <p:txBody>
          <a:bodyPr wrap="square" rtlCol="0" anchor="ctr"/>
          <a:lstStyle/>
          <a:p>
            <a:pPr marL="0" indent="0" algn="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₦190,000</a:t>
            </a:r>
            <a:endParaRPr lang="en-US" sz="1300" dirty="0"/>
          </a:p>
        </p:txBody>
      </p:sp>
      <p:sp>
        <p:nvSpPr>
          <p:cNvPr id="18" name="Text 15"/>
          <p:cNvSpPr/>
          <p:nvPr/>
        </p:nvSpPr>
        <p:spPr>
          <a:xfrm>
            <a:off x="6949440" y="5029200"/>
            <a:ext cx="4480560" cy="548640"/>
          </a:xfrm>
          <a:prstGeom prst="rect">
            <a:avLst/>
          </a:prstGeom>
          <a:noFill/>
        </p:spPr>
        <p:txBody>
          <a:bodyPr wrap="square" rtlCol="0" anchor="ctr"/>
          <a:lstStyle/>
          <a:p>
            <a:pPr marL="0" indent="0">
              <a:buNone/>
            </a:pPr>
            <a:r>
              <a:rPr lang="en-US" sz="1050" dirty="0">
                <a:solidFill>
                  <a:srgbClr val="666666"/>
                </a:solidFill>
                <a:latin typeface="Calibri" panose="020F0502020204030204" pitchFamily="34" charset="0"/>
                <a:ea typeface="Calibri" panose="020F0502020204030204" pitchFamily="34" charset="-122"/>
                <a:cs typeface="Calibri" panose="020F0502020204030204" pitchFamily="34" charset="-120"/>
              </a:rPr>
              <a:t>Virtual Cards, Contingency</a:t>
            </a:r>
            <a:endParaRPr lang="en-US" sz="1050" dirty="0"/>
          </a:p>
        </p:txBody>
      </p:sp>
      <p:sp>
        <p:nvSpPr>
          <p:cNvPr id="19" name="Text 16"/>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20" name="Text 17"/>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594360"/>
          </a:xfrm>
          <a:prstGeom prst="rect">
            <a:avLst/>
          </a:prstGeom>
          <a:noFill/>
        </p:spPr>
        <p:txBody>
          <a:bodyPr wrap="square" rtlCol="0" anchor="ctr"/>
          <a:lstStyle/>
          <a:p>
            <a:pPr marL="0" indent="0">
              <a:buNone/>
            </a:pPr>
            <a:r>
              <a:rPr lang="en-US" sz="30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Why This Budget?</a:t>
            </a:r>
            <a:endParaRPr lang="en-US" sz="3000" dirty="0"/>
          </a:p>
        </p:txBody>
      </p:sp>
      <p:sp>
        <p:nvSpPr>
          <p:cNvPr id="3" name="Text 1"/>
          <p:cNvSpPr/>
          <p:nvPr/>
        </p:nvSpPr>
        <p:spPr>
          <a:xfrm>
            <a:off x="548640" y="1005840"/>
            <a:ext cx="11064240" cy="365760"/>
          </a:xfrm>
          <a:prstGeom prst="rect">
            <a:avLst/>
          </a:prstGeom>
          <a:noFill/>
        </p:spPr>
        <p:txBody>
          <a:bodyPr wrap="square" rtlCol="0" anchor="ctr"/>
          <a:lstStyle/>
          <a:p>
            <a:pPr marL="0" indent="0">
              <a:buNone/>
            </a:pPr>
            <a:r>
              <a:rPr lang="en-US" sz="1400" dirty="0">
                <a:solidFill>
                  <a:srgbClr val="666666"/>
                </a:solidFill>
                <a:latin typeface="Calibri" panose="020F0502020204030204" pitchFamily="34" charset="0"/>
                <a:ea typeface="Calibri" panose="020F0502020204030204" pitchFamily="34" charset="-122"/>
                <a:cs typeface="Calibri" panose="020F0502020204030204" pitchFamily="34" charset="-120"/>
              </a:rPr>
              <a:t>Defending the three most important expenditures</a:t>
            </a:r>
            <a:endParaRPr lang="en-US" sz="1400" dirty="0"/>
          </a:p>
        </p:txBody>
      </p:sp>
      <p:sp>
        <p:nvSpPr>
          <p:cNvPr id="4" name="Shape 2"/>
          <p:cNvSpPr/>
          <p:nvPr/>
        </p:nvSpPr>
        <p:spPr>
          <a:xfrm>
            <a:off x="548640" y="1417320"/>
            <a:ext cx="11064240" cy="0"/>
          </a:xfrm>
          <a:prstGeom prst="line">
            <a:avLst/>
          </a:prstGeom>
          <a:noFill/>
          <a:ln w="12700">
            <a:solidFill>
              <a:srgbClr val="CCCCCC"/>
            </a:solidFill>
            <a:prstDash val="solid"/>
          </a:ln>
        </p:spPr>
      </p:sp>
      <p:sp>
        <p:nvSpPr>
          <p:cNvPr id="5" name="Shape 3"/>
          <p:cNvSpPr/>
          <p:nvPr/>
        </p:nvSpPr>
        <p:spPr>
          <a:xfrm>
            <a:off x="548640" y="1737360"/>
            <a:ext cx="3611880" cy="4480560"/>
          </a:xfrm>
          <a:prstGeom prst="rect">
            <a:avLst/>
          </a:prstGeom>
          <a:solidFill>
            <a:srgbClr val="FFFFFF"/>
          </a:solidFill>
          <a:ln w="12700">
            <a:solidFill>
              <a:srgbClr val="CCCCCC"/>
            </a:solidFill>
            <a:prstDash val="solid"/>
          </a:ln>
        </p:spPr>
      </p:sp>
      <p:sp>
        <p:nvSpPr>
          <p:cNvPr id="6" name="Text 4"/>
          <p:cNvSpPr/>
          <p:nvPr/>
        </p:nvSpPr>
        <p:spPr>
          <a:xfrm>
            <a:off x="777240" y="1920240"/>
            <a:ext cx="3154680" cy="45720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Backup Solution</a:t>
            </a:r>
            <a:endParaRPr lang="en-US" sz="1500" dirty="0"/>
          </a:p>
        </p:txBody>
      </p:sp>
      <p:sp>
        <p:nvSpPr>
          <p:cNvPr id="7" name="Text 5"/>
          <p:cNvSpPr/>
          <p:nvPr/>
        </p:nvSpPr>
        <p:spPr>
          <a:xfrm>
            <a:off x="777240" y="2377440"/>
            <a:ext cx="3154680" cy="457200"/>
          </a:xfrm>
          <a:prstGeom prst="rect">
            <a:avLst/>
          </a:prstGeom>
          <a:noFill/>
        </p:spPr>
        <p:txBody>
          <a:bodyPr wrap="square" rtlCol="0" anchor="ctr"/>
          <a:lstStyle/>
          <a:p>
            <a:pPr marL="0" indent="0">
              <a:buNone/>
            </a:pPr>
            <a:r>
              <a:rPr lang="en-US" sz="2000" b="1" dirty="0">
                <a:solidFill>
                  <a:srgbClr val="2E74B5"/>
                </a:solidFill>
                <a:latin typeface="Calibri" panose="020F0502020204030204" pitchFamily="34" charset="0"/>
                <a:ea typeface="Calibri" panose="020F0502020204030204" pitchFamily="34" charset="-122"/>
                <a:cs typeface="Calibri" panose="020F0502020204030204" pitchFamily="34" charset="-120"/>
              </a:rPr>
              <a:t>₦300,000</a:t>
            </a:r>
            <a:endParaRPr lang="en-US" sz="2000" dirty="0"/>
          </a:p>
        </p:txBody>
      </p:sp>
      <p:sp>
        <p:nvSpPr>
          <p:cNvPr id="8" name="Shape 6"/>
          <p:cNvSpPr/>
          <p:nvPr/>
        </p:nvSpPr>
        <p:spPr>
          <a:xfrm>
            <a:off x="777240" y="2971800"/>
            <a:ext cx="3154680" cy="0"/>
          </a:xfrm>
          <a:prstGeom prst="line">
            <a:avLst/>
          </a:prstGeom>
          <a:noFill/>
          <a:ln w="12700">
            <a:solidFill>
              <a:srgbClr val="CCCCCC"/>
            </a:solidFill>
            <a:prstDash val="solid"/>
          </a:ln>
        </p:spPr>
      </p:sp>
      <p:sp>
        <p:nvSpPr>
          <p:cNvPr id="9" name="Text 7"/>
          <p:cNvSpPr/>
          <p:nvPr/>
        </p:nvSpPr>
        <p:spPr>
          <a:xfrm>
            <a:off x="777240" y="3154680"/>
            <a:ext cx="3154680" cy="2926080"/>
          </a:xfrm>
          <a:prstGeom prst="rect">
            <a:avLst/>
          </a:prstGeom>
          <a:noFill/>
        </p:spPr>
        <p:txBody>
          <a:bodyPr wrap="square" rtlCol="0" anchor="ctr"/>
          <a:lstStyle/>
          <a:p>
            <a:pPr marL="0" indent="0">
              <a:buNone/>
            </a:pP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If an attack succeeds despite every other defense, backups are the only way to recover data without paying an attacker. This is the largest line item because it is the last line of defense.</a:t>
            </a:r>
            <a:endParaRPr lang="en-US" sz="1150" dirty="0"/>
          </a:p>
        </p:txBody>
      </p:sp>
      <p:sp>
        <p:nvSpPr>
          <p:cNvPr id="10" name="Shape 8"/>
          <p:cNvSpPr/>
          <p:nvPr/>
        </p:nvSpPr>
        <p:spPr>
          <a:xfrm>
            <a:off x="4343400" y="1737360"/>
            <a:ext cx="3611880" cy="4480560"/>
          </a:xfrm>
          <a:prstGeom prst="rect">
            <a:avLst/>
          </a:prstGeom>
          <a:solidFill>
            <a:srgbClr val="FFFFFF"/>
          </a:solidFill>
          <a:ln w="12700">
            <a:solidFill>
              <a:srgbClr val="CCCCCC"/>
            </a:solidFill>
            <a:prstDash val="solid"/>
          </a:ln>
        </p:spPr>
      </p:sp>
      <p:sp>
        <p:nvSpPr>
          <p:cNvPr id="11" name="Text 9"/>
          <p:cNvSpPr/>
          <p:nvPr/>
        </p:nvSpPr>
        <p:spPr>
          <a:xfrm>
            <a:off x="4572000" y="1920240"/>
            <a:ext cx="3154680" cy="45720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Endpoint Security</a:t>
            </a:r>
            <a:endParaRPr lang="en-US" sz="1500" dirty="0"/>
          </a:p>
        </p:txBody>
      </p:sp>
      <p:sp>
        <p:nvSpPr>
          <p:cNvPr id="12" name="Text 10"/>
          <p:cNvSpPr/>
          <p:nvPr/>
        </p:nvSpPr>
        <p:spPr>
          <a:xfrm>
            <a:off x="4572000" y="2377440"/>
            <a:ext cx="3154680" cy="457200"/>
          </a:xfrm>
          <a:prstGeom prst="rect">
            <a:avLst/>
          </a:prstGeom>
          <a:noFill/>
        </p:spPr>
        <p:txBody>
          <a:bodyPr wrap="square" rtlCol="0" anchor="ctr"/>
          <a:lstStyle/>
          <a:p>
            <a:pPr marL="0" indent="0">
              <a:buNone/>
            </a:pPr>
            <a:r>
              <a:rPr lang="en-US" sz="2000" b="1" dirty="0">
                <a:solidFill>
                  <a:srgbClr val="2E74B5"/>
                </a:solidFill>
                <a:latin typeface="Calibri" panose="020F0502020204030204" pitchFamily="34" charset="0"/>
                <a:ea typeface="Calibri" panose="020F0502020204030204" pitchFamily="34" charset="-122"/>
                <a:cs typeface="Calibri" panose="020F0502020204030204" pitchFamily="34" charset="-120"/>
              </a:rPr>
              <a:t>₦120,000</a:t>
            </a:r>
            <a:endParaRPr lang="en-US" sz="2000" dirty="0"/>
          </a:p>
        </p:txBody>
      </p:sp>
      <p:sp>
        <p:nvSpPr>
          <p:cNvPr id="13" name="Shape 11"/>
          <p:cNvSpPr/>
          <p:nvPr/>
        </p:nvSpPr>
        <p:spPr>
          <a:xfrm>
            <a:off x="4572000" y="2971800"/>
            <a:ext cx="3154680" cy="0"/>
          </a:xfrm>
          <a:prstGeom prst="line">
            <a:avLst/>
          </a:prstGeom>
          <a:noFill/>
          <a:ln w="12700">
            <a:solidFill>
              <a:srgbClr val="CCCCCC"/>
            </a:solidFill>
            <a:prstDash val="solid"/>
          </a:ln>
        </p:spPr>
      </p:sp>
      <p:sp>
        <p:nvSpPr>
          <p:cNvPr id="14" name="Text 12"/>
          <p:cNvSpPr/>
          <p:nvPr/>
        </p:nvSpPr>
        <p:spPr>
          <a:xfrm>
            <a:off x="4572000" y="3154680"/>
            <a:ext cx="3154680" cy="2926080"/>
          </a:xfrm>
          <a:prstGeom prst="rect">
            <a:avLst/>
          </a:prstGeom>
          <a:noFill/>
        </p:spPr>
        <p:txBody>
          <a:bodyPr wrap="square" rtlCol="0" anchor="ctr"/>
          <a:lstStyle/>
          <a:p>
            <a:pPr marL="0" indent="0">
              <a:buNone/>
            </a:pP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Directly targets how this incident began — malware from the rogue USB device. Covering all 30 devices at a low per-unit cost gives NovaPay's broadest protection for the smallest spend.</a:t>
            </a:r>
            <a:endParaRPr lang="en-US" sz="1150" dirty="0"/>
          </a:p>
        </p:txBody>
      </p:sp>
      <p:sp>
        <p:nvSpPr>
          <p:cNvPr id="15" name="Shape 13"/>
          <p:cNvSpPr/>
          <p:nvPr/>
        </p:nvSpPr>
        <p:spPr>
          <a:xfrm>
            <a:off x="8138160" y="1737360"/>
            <a:ext cx="3611880" cy="4480560"/>
          </a:xfrm>
          <a:prstGeom prst="rect">
            <a:avLst/>
          </a:prstGeom>
          <a:solidFill>
            <a:srgbClr val="FFFFFF"/>
          </a:solidFill>
          <a:ln w="12700">
            <a:solidFill>
              <a:srgbClr val="CCCCCC"/>
            </a:solidFill>
            <a:prstDash val="solid"/>
          </a:ln>
        </p:spPr>
      </p:sp>
      <p:sp>
        <p:nvSpPr>
          <p:cNvPr id="16" name="Text 14"/>
          <p:cNvSpPr/>
          <p:nvPr/>
        </p:nvSpPr>
        <p:spPr>
          <a:xfrm>
            <a:off x="8366760" y="1920240"/>
            <a:ext cx="3154680" cy="457200"/>
          </a:xfrm>
          <a:prstGeom prst="rect">
            <a:avLst/>
          </a:prstGeom>
          <a:noFill/>
        </p:spPr>
        <p:txBody>
          <a:bodyPr wrap="square"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Multi-Factor Authentication</a:t>
            </a:r>
            <a:endParaRPr lang="en-US" sz="1500" dirty="0"/>
          </a:p>
        </p:txBody>
      </p:sp>
      <p:sp>
        <p:nvSpPr>
          <p:cNvPr id="17" name="Text 15"/>
          <p:cNvSpPr/>
          <p:nvPr/>
        </p:nvSpPr>
        <p:spPr>
          <a:xfrm>
            <a:off x="8366760" y="2377440"/>
            <a:ext cx="3154680" cy="457200"/>
          </a:xfrm>
          <a:prstGeom prst="rect">
            <a:avLst/>
          </a:prstGeom>
          <a:noFill/>
        </p:spPr>
        <p:txBody>
          <a:bodyPr wrap="square" rtlCol="0" anchor="ctr"/>
          <a:lstStyle/>
          <a:p>
            <a:pPr marL="0" indent="0">
              <a:buNone/>
            </a:pPr>
            <a:r>
              <a:rPr lang="en-US" sz="2000" b="1" dirty="0">
                <a:solidFill>
                  <a:srgbClr val="2E74B5"/>
                </a:solidFill>
                <a:latin typeface="Calibri" panose="020F0502020204030204" pitchFamily="34" charset="0"/>
                <a:ea typeface="Calibri" panose="020F0502020204030204" pitchFamily="34" charset="-122"/>
                <a:cs typeface="Calibri" panose="020F0502020204030204" pitchFamily="34" charset="-120"/>
              </a:rPr>
              <a:t>₦100,000</a:t>
            </a:r>
            <a:endParaRPr lang="en-US" sz="2000" dirty="0"/>
          </a:p>
        </p:txBody>
      </p:sp>
      <p:sp>
        <p:nvSpPr>
          <p:cNvPr id="18" name="Shape 16"/>
          <p:cNvSpPr/>
          <p:nvPr/>
        </p:nvSpPr>
        <p:spPr>
          <a:xfrm>
            <a:off x="8366760" y="2971800"/>
            <a:ext cx="3154680" cy="0"/>
          </a:xfrm>
          <a:prstGeom prst="line">
            <a:avLst/>
          </a:prstGeom>
          <a:noFill/>
          <a:ln w="12700">
            <a:solidFill>
              <a:srgbClr val="CCCCCC"/>
            </a:solidFill>
            <a:prstDash val="solid"/>
          </a:ln>
        </p:spPr>
      </p:sp>
      <p:sp>
        <p:nvSpPr>
          <p:cNvPr id="19" name="Text 17"/>
          <p:cNvSpPr/>
          <p:nvPr/>
        </p:nvSpPr>
        <p:spPr>
          <a:xfrm>
            <a:off x="8366760" y="3154680"/>
            <a:ext cx="3154680" cy="2926080"/>
          </a:xfrm>
          <a:prstGeom prst="rect">
            <a:avLst/>
          </a:prstGeom>
          <a:noFill/>
        </p:spPr>
        <p:txBody>
          <a:bodyPr wrap="square" rtlCol="0" anchor="ctr"/>
          <a:lstStyle/>
          <a:p>
            <a:pPr marL="0" indent="0">
              <a:buNone/>
            </a:pPr>
            <a:r>
              <a:rPr lang="en-US" sz="1150" dirty="0">
                <a:solidFill>
                  <a:srgbClr val="333333"/>
                </a:solidFill>
                <a:latin typeface="Calibri" panose="020F0502020204030204" pitchFamily="34" charset="0"/>
                <a:ea typeface="Calibri" panose="020F0502020204030204" pitchFamily="34" charset="-122"/>
                <a:cs typeface="Calibri" panose="020F0502020204030204" pitchFamily="34" charset="-120"/>
              </a:rPr>
              <a:t>Closes the exact gap that allowed the suspicious login in Event 3. Even if a password is stolen again, MFA prevents it from being enough to get in.</a:t>
            </a:r>
            <a:endParaRPr lang="en-US" sz="1150" dirty="0"/>
          </a:p>
        </p:txBody>
      </p:sp>
      <p:sp>
        <p:nvSpPr>
          <p:cNvPr id="20" name="Text 18"/>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21" name="Text 19"/>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666666"/>
                </a:solidFill>
                <a:latin typeface="Calibri" panose="020F0502020204030204" pitchFamily="34" charset="0"/>
                <a:ea typeface="Calibri" panose="020F0502020204030204" pitchFamily="34" charset="-122"/>
                <a:cs typeface="Calibri" panose="020F0502020204030204"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822960"/>
            <a:ext cx="9144000" cy="640080"/>
          </a:xfrm>
          <a:prstGeom prst="rect">
            <a:avLst/>
          </a:prstGeom>
          <a:noFill/>
        </p:spPr>
        <p:txBody>
          <a:bodyPr wrap="square" rtlCol="0" anchor="ctr"/>
          <a:lstStyle/>
          <a:p>
            <a:pPr marL="0" indent="0">
              <a:buNone/>
            </a:pPr>
            <a:r>
              <a:rPr lang="en-US" sz="30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Conclusion</a:t>
            </a:r>
            <a:endParaRPr lang="en-US" sz="3000" dirty="0"/>
          </a:p>
        </p:txBody>
      </p:sp>
      <p:sp>
        <p:nvSpPr>
          <p:cNvPr id="3" name="Shape 1"/>
          <p:cNvSpPr/>
          <p:nvPr/>
        </p:nvSpPr>
        <p:spPr>
          <a:xfrm>
            <a:off x="822960" y="1508760"/>
            <a:ext cx="10515600" cy="0"/>
          </a:xfrm>
          <a:prstGeom prst="line">
            <a:avLst/>
          </a:prstGeom>
          <a:noFill/>
          <a:ln w="12700">
            <a:solidFill>
              <a:srgbClr val="3A4680"/>
            </a:solidFill>
            <a:prstDash val="solid"/>
          </a:ln>
        </p:spPr>
      </p:sp>
      <p:sp>
        <p:nvSpPr>
          <p:cNvPr id="4" name="Text 2"/>
          <p:cNvSpPr/>
          <p:nvPr/>
        </p:nvSpPr>
        <p:spPr>
          <a:xfrm>
            <a:off x="822960" y="1828800"/>
            <a:ext cx="10515600" cy="3657600"/>
          </a:xfrm>
          <a:prstGeom prst="rect">
            <a:avLst/>
          </a:prstGeom>
          <a:noFill/>
        </p:spPr>
        <p:txBody>
          <a:bodyPr wrap="square" rtlCol="0" anchor="t"/>
          <a:lstStyle/>
          <a:p>
            <a:pPr marL="228600" indent="-228600">
              <a:spcAft>
                <a:spcPts val="2200"/>
              </a:spcAft>
              <a:buSzPct val="100000"/>
              <a:buChar char="•"/>
            </a:pPr>
            <a:r>
              <a:rPr lang="en-US" sz="1500" dirty="0">
                <a:solidFill>
                  <a:srgbClr val="E2E6F5"/>
                </a:solidFill>
                <a:latin typeface="Calibri" panose="020F0502020204030204" pitchFamily="34" charset="0"/>
                <a:ea typeface="Calibri" panose="020F0502020204030204" pitchFamily="34" charset="-122"/>
                <a:cs typeface="Calibri" panose="020F0502020204030204" pitchFamily="34" charset="-120"/>
              </a:rPr>
              <a:t>This week's events form one coordinated attack: USB malware, stolen credentials, unauthorized login, and dark web exposure — alongside a parallel reputation attack.</a:t>
            </a:r>
            <a:endParaRPr lang="en-US" sz="1500" dirty="0"/>
          </a:p>
          <a:p>
            <a:pPr marL="228600" indent="-228600">
              <a:spcAft>
                <a:spcPts val="2200"/>
              </a:spcAft>
              <a:buSzPct val="100000"/>
              <a:buChar char="•"/>
            </a:pPr>
            <a:r>
              <a:rPr lang="en-US" sz="1500" dirty="0">
                <a:solidFill>
                  <a:srgbClr val="E2E6F5"/>
                </a:solidFill>
                <a:latin typeface="Calibri" panose="020F0502020204030204" pitchFamily="34" charset="0"/>
                <a:ea typeface="Calibri" panose="020F0502020204030204" pitchFamily="34" charset="-122"/>
                <a:cs typeface="Calibri" panose="020F0502020204030204" pitchFamily="34" charset="-120"/>
              </a:rPr>
              <a:t>None of it was inevitable. Basic controls — MFA, USB restrictions, training, and monitoring — would very likely have prevented or limited this incident.</a:t>
            </a:r>
            <a:endParaRPr lang="en-US" sz="1500" dirty="0"/>
          </a:p>
          <a:p>
            <a:pPr marL="228600" indent="-228600">
              <a:spcAft>
                <a:spcPts val="2200"/>
              </a:spcAft>
              <a:buSzPct val="100000"/>
              <a:buChar char="•"/>
            </a:pPr>
            <a:r>
              <a:rPr lang="en-US" sz="1500" dirty="0">
                <a:solidFill>
                  <a:srgbClr val="E2E6F5"/>
                </a:solidFill>
                <a:latin typeface="Calibri" panose="020F0502020204030204" pitchFamily="34" charset="0"/>
                <a:ea typeface="Calibri" panose="020F0502020204030204" pitchFamily="34" charset="-122"/>
                <a:cs typeface="Calibri" panose="020F0502020204030204" pitchFamily="34" charset="-120"/>
              </a:rPr>
              <a:t>The 14 recommendations and ₦1,500,000 budget in this report target the exact gaps this incident exposed, prioritizing the confirmed attack path first.</a:t>
            </a:r>
            <a:endParaRPr lang="en-US" sz="1500" dirty="0"/>
          </a:p>
        </p:txBody>
      </p:sp>
      <p:sp>
        <p:nvSpPr>
          <p:cNvPr id="5" name="Text 3"/>
          <p:cNvSpPr/>
          <p:nvPr/>
        </p:nvSpPr>
        <p:spPr>
          <a:xfrm>
            <a:off x="822960" y="5120640"/>
            <a:ext cx="10332720" cy="548640"/>
          </a:xfrm>
          <a:prstGeom prst="rect">
            <a:avLst/>
          </a:prstGeom>
          <a:noFill/>
        </p:spPr>
        <p:txBody>
          <a:bodyPr wrap="square" rtlCol="0" anchor="ctr"/>
          <a:lstStyle/>
          <a:p>
            <a:pPr marL="0" indent="0">
              <a:buNone/>
            </a:pPr>
            <a:r>
              <a:rPr lang="en-US" sz="1400" b="1" i="1" dirty="0">
                <a:solidFill>
                  <a:srgbClr val="FFFFFF"/>
                </a:solidFill>
                <a:latin typeface="Calibri" panose="020F0502020204030204" pitchFamily="34" charset="0"/>
                <a:ea typeface="Calibri" panose="020F0502020204030204" pitchFamily="34" charset="-122"/>
                <a:cs typeface="Calibri" panose="020F0502020204030204" pitchFamily="34" charset="-120"/>
              </a:rPr>
              <a:t>Recommendation: approve this budget and support the ongoing training and monitoring plan.</a:t>
            </a:r>
            <a:endParaRPr lang="en-US" sz="1400" dirty="0"/>
          </a:p>
        </p:txBody>
      </p:sp>
      <p:sp>
        <p:nvSpPr>
          <p:cNvPr id="6" name="Text 4"/>
          <p:cNvSpPr/>
          <p:nvPr/>
        </p:nvSpPr>
        <p:spPr>
          <a:xfrm>
            <a:off x="457200" y="6537960"/>
            <a:ext cx="5486400" cy="274320"/>
          </a:xfrm>
          <a:prstGeom prst="rect">
            <a:avLst/>
          </a:prstGeom>
          <a:noFill/>
        </p:spPr>
        <p:txBody>
          <a:bodyPr wrap="square" rtlCol="0" anchor="ctr"/>
          <a:lstStyle/>
          <a:p>
            <a:pPr marL="0" indent="0">
              <a:buNone/>
            </a:pPr>
            <a:r>
              <a:rPr lang="en-US" sz="900" dirty="0">
                <a:solidFill>
                  <a:srgbClr val="AAB2C8"/>
                </a:solidFill>
                <a:latin typeface="Calibri" panose="020F0502020204030204" pitchFamily="34" charset="0"/>
                <a:ea typeface="Calibri" panose="020F0502020204030204" pitchFamily="34" charset="-122"/>
                <a:cs typeface="Calibri" panose="020F0502020204030204" pitchFamily="34" charset="-120"/>
              </a:rPr>
              <a:t>NovaPay CyberShield Capstone</a:t>
            </a:r>
            <a:endParaRPr lang="en-US" sz="900" dirty="0"/>
          </a:p>
        </p:txBody>
      </p:sp>
      <p:sp>
        <p:nvSpPr>
          <p:cNvPr id="7" name="Text 5"/>
          <p:cNvSpPr/>
          <p:nvPr/>
        </p:nvSpPr>
        <p:spPr>
          <a:xfrm>
            <a:off x="10515600" y="6537960"/>
            <a:ext cx="1371600" cy="274320"/>
          </a:xfrm>
          <a:prstGeom prst="rect">
            <a:avLst/>
          </a:prstGeom>
          <a:noFill/>
        </p:spPr>
        <p:txBody>
          <a:bodyPr wrap="square" rtlCol="0" anchor="ctr"/>
          <a:lstStyle/>
          <a:p>
            <a:pPr marL="0" indent="0" algn="r">
              <a:buNone/>
            </a:pPr>
            <a:r>
              <a:rPr lang="en-US" sz="900" dirty="0">
                <a:solidFill>
                  <a:srgbClr val="AAB2C8"/>
                </a:solidFill>
                <a:latin typeface="Calibri" panose="020F0502020204030204" pitchFamily="34" charset="0"/>
                <a:ea typeface="Calibri" panose="020F0502020204030204" pitchFamily="34" charset="-122"/>
                <a:cs typeface="Calibri" panose="020F0502020204030204"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0" y="2743200"/>
            <a:ext cx="12188952" cy="1097280"/>
          </a:xfrm>
          <a:prstGeom prst="rect">
            <a:avLst/>
          </a:prstGeom>
          <a:noFill/>
        </p:spPr>
        <p:txBody>
          <a:bodyPr wrap="square" rtlCol="0" anchor="ctr"/>
          <a:lstStyle/>
          <a:p>
            <a:pPr marL="0" indent="0" algn="ctr">
              <a:buNone/>
            </a:pPr>
            <a:r>
              <a:rPr lang="en-US" sz="4200" b="1" dirty="0">
                <a:solidFill>
                  <a:srgbClr val="FFFFFF"/>
                </a:solidFill>
                <a:latin typeface="Calibri" panose="020F0502020204030204" pitchFamily="34" charset="0"/>
                <a:ea typeface="Calibri" panose="020F0502020204030204" pitchFamily="34" charset="-122"/>
                <a:cs typeface="Calibri" panose="020F0502020204030204" pitchFamily="34" charset="-120"/>
              </a:rPr>
              <a:t>Questions?</a:t>
            </a:r>
            <a:endParaRPr lang="en-US" sz="4200" dirty="0"/>
          </a:p>
        </p:txBody>
      </p:sp>
      <p:sp>
        <p:nvSpPr>
          <p:cNvPr id="3" name="Text 1"/>
          <p:cNvSpPr/>
          <p:nvPr/>
        </p:nvSpPr>
        <p:spPr>
          <a:xfrm>
            <a:off x="0" y="3703320"/>
            <a:ext cx="12188952" cy="457200"/>
          </a:xfrm>
          <a:prstGeom prst="rect">
            <a:avLst/>
          </a:prstGeom>
          <a:noFill/>
        </p:spPr>
        <p:txBody>
          <a:bodyPr wrap="square" rtlCol="0" anchor="ctr"/>
          <a:lstStyle/>
          <a:p>
            <a:pPr marL="0" indent="0" algn="ctr">
              <a:buNone/>
            </a:pPr>
            <a:r>
              <a:rPr lang="en-US" sz="1400" dirty="0">
                <a:solidFill>
                  <a:srgbClr val="D0D6E8"/>
                </a:solidFill>
                <a:latin typeface="Calibri" panose="020F0502020204030204" pitchFamily="34" charset="0"/>
                <a:ea typeface="Calibri" panose="020F0502020204030204" pitchFamily="34" charset="-122"/>
                <a:cs typeface="Calibri" panose="020F0502020204030204" pitchFamily="34" charset="-120"/>
              </a:rPr>
              <a:t>Thank you — happy to discuss the incident findings or the proposed budget.</a:t>
            </a:r>
            <a:endParaRPr lang="en-US" sz="1400" dirty="0"/>
          </a:p>
        </p:txBody>
      </p:sp>
      <p:sp>
        <p:nvSpPr>
          <p:cNvPr id="4" name="Text 2"/>
          <p:cNvSpPr/>
          <p:nvPr/>
        </p:nvSpPr>
        <p:spPr>
          <a:xfrm>
            <a:off x="0" y="6035040"/>
            <a:ext cx="12188952" cy="365760"/>
          </a:xfrm>
          <a:prstGeom prst="rect">
            <a:avLst/>
          </a:prstGeom>
          <a:noFill/>
        </p:spPr>
        <p:txBody>
          <a:bodyPr wrap="square" rtlCol="0" anchor="ctr"/>
          <a:lstStyle/>
          <a:p>
            <a:pPr marL="0" indent="0" algn="ctr">
              <a:buNone/>
            </a:pPr>
            <a:r>
              <a:rPr lang="en-US" sz="1200" dirty="0">
                <a:solidFill>
                  <a:srgbClr val="AAB2C8"/>
                </a:solidFill>
                <a:latin typeface="Calibri" panose="020F0502020204030204" pitchFamily="34" charset="0"/>
                <a:ea typeface="Calibri" panose="020F0502020204030204" pitchFamily="34" charset="-122"/>
                <a:cs typeface="Calibri" panose="020F0502020204030204" pitchFamily="34" charset="-120"/>
              </a:rPr>
              <a:t>[Nurain Abdullah]  |  Junior Cybersecurity Analyst &amp; Security Champion  |  NovaPay Solutions Ltd.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10364</Words>
  <Application>WPS Presentation</Application>
  <PresentationFormat>On-screen Show (16:9)</PresentationFormat>
  <Paragraphs>457</Paragraphs>
  <Slides>18</Slides>
  <Notes>18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SimSun</vt:lpstr>
      <vt:lpstr>Wingdings</vt:lpstr>
      <vt:lpstr>Calibri</vt:lpstr>
      <vt:lpstr>Calibri</vt:lpstr>
      <vt:lpstr>Calibri</vt:lpstr>
      <vt:lpstr>Arial</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NovaPay CyberShield</dc:creator>
  <dc:subject>PptxGenJS Presentation</dc:subject>
  <cp:lastModifiedBy>abdul</cp:lastModifiedBy>
  <cp:revision>3</cp:revision>
  <dcterms:created xsi:type="dcterms:W3CDTF">2026-08-24T02:13:00Z</dcterms:created>
  <dcterms:modified xsi:type="dcterms:W3CDTF">2026-08-24T08:44:15Z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859848F295D94DFCB9509C9C26653C5C_12</vt:lpwstr>
  </property>
</Properties>
</file>